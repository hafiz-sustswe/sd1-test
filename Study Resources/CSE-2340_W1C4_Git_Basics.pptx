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4 of Week 1. Students must arrive with the profile folder from Class 3. Check before starting that Git is installed and that everyone has a GitHub account - send the sign-up link the night before.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0-5 min. Ask the three HTML questions, then have every student open their Class 3 folder in VS Code. Nobody proceeds without that folder - pair up any student who forgot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5-9 min. Ask students to admit how they name files - they will laugh, and that is the hook. The video game save point analogy is the one they remember; use it again at commit.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9-12 min. Many students think Git and GitHub are the same word. Say the sentence twice: Git is the tool, GitHub is the website. Show a real repository page on the projector.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12-16 min. Draw the four boxes on the whiteboard and keep them there for the rest of the class. Whenever a student is lost later, point at the board and ask which box their file is in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16-18 min. Walk the room while students run git --version. Any student with command not found installs now while the class continues; pair them with a neighbour so they do not fall behind.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min. From here everyone types with me. One command per slide, and nobody moves ahead. Terminal in VS Code: Ctrl + ` (backtick).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18-21 min. Make everyone show the .git folder. Emphasise: the repository IS the .git folder; the rest of the folder is just your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21-24 min. Red file names mean untracked or modified, green means staged. Tell students Git literally suggests the next command in its output - reading it is a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24-27 min. The basket analogy answers the question every student asks: why two commands instead of one? Show git status before and after so they see the file move to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27-30 min. If a student forgets -m they land in the vim editor and panic. Teach the escape now: press Esc then type :q! and Enter. Write it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30-34 min. Project your own GitHub while students follow. origin is just a nickname for the URL - say that explicitly, students think it is a keyword with magic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34-38 min. Token creation is where the class slows down. Show it once on the projector, tell students to save the token in a text file because GitHub shows it only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38-40 min. Say clearly: in Week 14 you will have Firebase keys. A pushed key is a real security incident and GitHub will email you about it. Create the habit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40-43 min. Print this slide as a handout or share the cheat sheet file. Ask the class to say the four-word loop out loud together - it sounds silly and it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43-48 min. Ask which error each student hit and fix two or three live. Authentication failed will be the most common by far.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48 min. Part 1 is verified before students leave. Anyone whose push failed stays for two minutes and we fix the token together. Part 2 makes them repeat the loop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48-50 min. Take two answers. Remind students that Mini Project 1 in Week 3 is submitted as a repository link plus a deployed URL, so today's skill is assessed from now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0A4A85"/>
          </a:solidFill>
          <a:ln w="12700">
            <a:solidFill>
              <a:srgbClr val="0A4A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07386A"/>
          </a:solidFill>
          <a:ln w="12700">
            <a:solidFill>
              <a:srgbClr val="07386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77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ISLAMIC UNIVERSITY CHITTAGONG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CSE-2340: Software Development 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Basics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C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· Class 4 · init, add, commit, push, repository, .gitignore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1005840" cy="32004"/>
          </a:xfrm>
          <a:prstGeom prst="rect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Sadman Hafiz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Lecturer, Dept. of CSE, IIUC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Autumn 2026  |  50-minute laboratory class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0-5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&amp; Today's Outcome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1848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459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from Class 3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4974336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tag holds the main content of a page?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alt attribute do?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link a label to an input?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me your profile folder on screen.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161848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22592" y="16459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today you can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2039112"/>
            <a:ext cx="4791456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version control solves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the difference between Git and GitHub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init, status, add, commit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GitHub repository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your profile page to GitHub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.gitignore file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Why Version Control?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1572768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students save work today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993392"/>
            <a:ext cx="497433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project.html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project_final.html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project_final2.html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project_final_REAL_last.html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303520" cy="2468880"/>
          </a:xfrm>
          <a:prstGeom prst="roundRect">
            <a:avLst>
              <a:gd name="adj" fmla="val 296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65392" y="1572768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goes wrong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1993392"/>
            <a:ext cx="479145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file is actually the newest?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Yesterday's working code is gone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friends edit and overwrite each other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laptop dies and so does the project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04672" y="4270248"/>
            <a:ext cx="1055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is a save point system for your code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4690872"/>
            <a:ext cx="105521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Analogy: a video game. You save before the boss fight and you can always load that save.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commit is one save point with a name, a time, and the exact state of every file.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go back to any save point, and you can see exactly what changed between two of them.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vs GitHub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4572000" cy="2377440"/>
          </a:xfrm>
          <a:prstGeom prst="roundRect">
            <a:avLst>
              <a:gd name="adj" fmla="val 307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1618488"/>
            <a:ext cx="4059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039112"/>
            <a:ext cx="405993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program on YOUR computer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fully offline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the history of your files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and open source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223760" y="1417320"/>
            <a:ext cx="4389120" cy="2377440"/>
          </a:xfrm>
          <a:prstGeom prst="roundRect">
            <a:avLst>
              <a:gd name="adj" fmla="val 3077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79792" y="1618488"/>
            <a:ext cx="3877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479792" y="2039112"/>
            <a:ext cx="387705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website that stores repositories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the internet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online backup and portfolio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teams share code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2240280"/>
            <a:ext cx="2148840" cy="594360"/>
          </a:xfrm>
          <a:prstGeom prst="rightArrow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240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04672" y="4270248"/>
            <a:ext cx="1055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4690872"/>
            <a:ext cx="105521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is the camera that takes the photos. GitHub is the online album where you upload them.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use Git with no GitHub account. You cannot upload anything to GitHub without Git (or the website upload button).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course every mini project is submitted as a GitHub repository link plus a deployed URL.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Areas of Git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travels through the same three places. Learn this diagram and Git stops being confusing.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2F5F8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88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folder.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edit files here.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99232" y="2651760"/>
            <a:ext cx="365760" cy="292608"/>
          </a:xfrm>
          <a:prstGeom prst="rightArrow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42032" y="382219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29000" y="182880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5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8A5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788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5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chosen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5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save point.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79592" y="2651760"/>
            <a:ext cx="365760" cy="292608"/>
          </a:xfrm>
          <a:prstGeom prst="rightArrow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22392" y="382219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788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saved history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your computer.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59952" y="2651760"/>
            <a:ext cx="365760" cy="292608"/>
          </a:xfrm>
          <a:prstGeom prst="rightArrow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02752" y="382219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89720" y="182880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0A4A85"/>
          </a:solidFill>
          <a:ln w="12700">
            <a:solidFill>
              <a:srgbClr val="0A4A8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688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(remote)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2788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history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online.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343400"/>
            <a:ext cx="11064240" cy="1119632"/>
          </a:xfrm>
          <a:prstGeom prst="roundRect">
            <a:avLst>
              <a:gd name="adj" fmla="val 49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4453128"/>
            <a:ext cx="10844784" cy="900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whole course workflow in four lines</a:t>
            </a:r>
            <a:endParaRPr lang="en-US" sz="1300" dirty="0"/>
          </a:p>
          <a:p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 .                      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working directory -&gt; staging area</a:t>
            </a:r>
            <a:endParaRPr lang="en-US" sz="1300" dirty="0"/>
          </a:p>
          <a:p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commit -m 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staging area     -&gt; local repository</a:t>
            </a:r>
            <a:endParaRPr lang="en-US" sz="1300" dirty="0"/>
          </a:p>
          <a:p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                       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local repository -&gt; GitHub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Git and Configure It Once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583680" cy="2103120"/>
          </a:xfrm>
          <a:prstGeom prst="roundRect">
            <a:avLst>
              <a:gd name="adj" fmla="val 260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63642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Check that Git is installed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--version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Tell Git who you are (do this ONCE)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 --global user.name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"Md Sadman"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 --global user.email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"sadman@example.com"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Check what was saved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 --list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1371600"/>
            <a:ext cx="4297680" cy="2103120"/>
          </a:xfrm>
          <a:prstGeom prst="roundRect">
            <a:avLst>
              <a:gd name="adj" fmla="val 347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571232" y="157276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get Git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571232" y="1993392"/>
            <a:ext cx="37856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git-scm.com/downloads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Windows: install Git Bash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the default options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0" y="3657600"/>
            <a:ext cx="4297680" cy="2286000"/>
          </a:xfrm>
          <a:prstGeom prst="roundRect">
            <a:avLst>
              <a:gd name="adj" fmla="val 3200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516368" y="385876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16368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028432" y="38862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your real email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571232" y="4279392"/>
            <a:ext cx="378561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same email as your GitHub account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 appears on every commit forever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--global means: for all my projects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480560"/>
            <a:ext cx="2743200" cy="2743200"/>
          </a:xfrm>
          <a:prstGeom prst="ellipse">
            <a:avLst/>
          </a:prstGeom>
          <a:solidFill>
            <a:srgbClr val="07386A"/>
          </a:solidFill>
          <a:ln w="12700">
            <a:solidFill>
              <a:srgbClr val="0738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57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Build: Folder to GitHub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Class 3 profile folder. We do every command together.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1: git init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035040" cy="680720"/>
          </a:xfrm>
          <a:prstGeom prst="roundRect">
            <a:avLst>
              <a:gd name="adj" fmla="val 806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5815584" cy="46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my-profile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6035040" cy="664464"/>
          </a:xfrm>
          <a:prstGeom prst="roundRect">
            <a:avLst>
              <a:gd name="adj" fmla="val 8257"/>
            </a:avLst>
          </a:prstGeom>
          <a:solidFill>
            <a:srgbClr val="12202E"/>
          </a:solidFill>
          <a:ln w="12700">
            <a:solidFill>
              <a:srgbClr val="1220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258568"/>
            <a:ext cx="5815584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9B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Initialized empty Git repository in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9B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/Users/sadman/my-profile/.git/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1371600"/>
            <a:ext cx="4846320" cy="2194560"/>
          </a:xfrm>
          <a:prstGeom prst="roundRect">
            <a:avLst>
              <a:gd name="adj" fmla="val 3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022592" y="1572768"/>
            <a:ext cx="4334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just happened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022592" y="1993392"/>
            <a:ext cx="433425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hidden folder .git was created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stores the whole history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.git and the history is gone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this ONCE per project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6035040" cy="2103120"/>
          </a:xfrm>
          <a:prstGeom prst="roundRect">
            <a:avLst>
              <a:gd name="adj" fmla="val 3478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53872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56616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hidden folder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3959352"/>
            <a:ext cx="55229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Windows: dir /a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/ Linux: ls -a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hides it by default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edit anything inside .git by hand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766560" y="3749040"/>
            <a:ext cx="4846320" cy="1691640"/>
          </a:xfrm>
          <a:prstGeom prst="roundRect">
            <a:avLst>
              <a:gd name="adj" fmla="val 4324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022592" y="3950208"/>
            <a:ext cx="4334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022592" y="4370832"/>
            <a:ext cx="433425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git init in the wrong folder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git init inside Documents or Desktop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check with pwd or cd first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2: git status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most used command. Run it after everything. It always tells you what Git is thinking.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035040" cy="477520"/>
          </a:xfrm>
          <a:prstGeom prst="roundRect">
            <a:avLst>
              <a:gd name="adj" fmla="val 1148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847088"/>
            <a:ext cx="5815584" cy="25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status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6035040" cy="2330704"/>
          </a:xfrm>
          <a:prstGeom prst="roundRect">
            <a:avLst>
              <a:gd name="adj" fmla="val 2354"/>
            </a:avLst>
          </a:prstGeom>
          <a:solidFill>
            <a:srgbClr val="12202E"/>
          </a:solidFill>
          <a:ln w="12700">
            <a:solidFill>
              <a:srgbClr val="1220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441448"/>
            <a:ext cx="5815584" cy="211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branch main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commits yet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Untracked files: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(use "git add &lt;file&gt;..." to include)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index.html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images/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nothing added to commit but untracked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 present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66560" y="1737360"/>
            <a:ext cx="4846320" cy="2011680"/>
          </a:xfrm>
          <a:prstGeom prst="roundRect">
            <a:avLst>
              <a:gd name="adj" fmla="val 363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022592" y="1938528"/>
            <a:ext cx="4334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words to know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022592" y="2359152"/>
            <a:ext cx="43342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Untracked - Git has never seen this file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 - ready for the next commit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 - changed since the last commit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766560" y="3931920"/>
            <a:ext cx="4846320" cy="2011680"/>
          </a:xfrm>
          <a:prstGeom prst="roundRect">
            <a:avLst>
              <a:gd name="adj" fmla="val 3636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67728" y="413308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67728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479792" y="41605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habit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022592" y="4553712"/>
            <a:ext cx="43342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git status before add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git status after add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message - it tells you the next command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3: git add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035040" cy="1696720"/>
          </a:xfrm>
          <a:prstGeom prst="roundRect">
            <a:avLst>
              <a:gd name="adj" fmla="val 323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5815584" cy="147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one file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 index.html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everything in this folder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 .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status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6035040" cy="835152"/>
          </a:xfrm>
          <a:prstGeom prst="roundRect">
            <a:avLst>
              <a:gd name="adj" fmla="val 6569"/>
            </a:avLst>
          </a:prstGeom>
          <a:solidFill>
            <a:srgbClr val="12202E"/>
          </a:solidFill>
          <a:ln w="12700">
            <a:solidFill>
              <a:srgbClr val="1220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944368"/>
            <a:ext cx="5815584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9B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 to be committed: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9B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 file:   index.html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9B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 file:   images/profile.jpg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766560" y="1371600"/>
            <a:ext cx="4846320" cy="2286000"/>
          </a:xfrm>
          <a:prstGeom prst="roundRect">
            <a:avLst>
              <a:gd name="adj" fmla="val 3200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67728" y="157276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6772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79792" y="16002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Analogy: the shopping basket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022592" y="1993392"/>
            <a:ext cx="43342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folder is the whole shop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puts items in your basket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 is paying at the counter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saved until you commit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766560" y="3840480"/>
            <a:ext cx="4846320" cy="2103120"/>
          </a:xfrm>
          <a:prstGeom prst="roundRect">
            <a:avLst>
              <a:gd name="adj" fmla="val 347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022592" y="4041648"/>
            <a:ext cx="4334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filename or add . ?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022592" y="4462272"/>
            <a:ext cx="43342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index.html - one file only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. - every changed file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add . in this course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one file when you want separate commits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4: git commit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035040" cy="883920"/>
          </a:xfrm>
          <a:prstGeom prst="roundRect">
            <a:avLst>
              <a:gd name="adj" fmla="val 620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5815584" cy="664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commit -m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"Add semantic profile page"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 --oneline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6035040" cy="835152"/>
          </a:xfrm>
          <a:prstGeom prst="roundRect">
            <a:avLst>
              <a:gd name="adj" fmla="val 6569"/>
            </a:avLst>
          </a:prstGeom>
          <a:solidFill>
            <a:srgbClr val="12202E"/>
          </a:solidFill>
          <a:ln w="12700">
            <a:solidFill>
              <a:srgbClr val="1220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441448"/>
            <a:ext cx="5815584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[main (root-commit) 8f3c1a9]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 semantic profile page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files changed, 48 insertions(+)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766560" y="1371600"/>
            <a:ext cx="4846320" cy="2148840"/>
          </a:xfrm>
          <a:prstGeom prst="roundRect">
            <a:avLst>
              <a:gd name="adj" fmla="val 3404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67728" y="157276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6772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79792" y="16002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commit messages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022592" y="1993392"/>
            <a:ext cx="43342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contact form to profile page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broken image path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skills and education sections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766560" y="3657600"/>
            <a:ext cx="4846320" cy="1920240"/>
          </a:xfrm>
          <a:prstGeom prst="roundRect">
            <a:avLst>
              <a:gd name="adj" fmla="val 3810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022592" y="3858768"/>
            <a:ext cx="4334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commit messages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022592" y="4279392"/>
            <a:ext cx="43342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asdf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final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6035040" cy="1965960"/>
          </a:xfrm>
          <a:prstGeom prst="roundRect">
            <a:avLst>
              <a:gd name="adj" fmla="val 372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04672" y="3813048"/>
            <a:ext cx="5522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for -m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33672"/>
            <a:ext cx="552297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-m means message. Without it Git opens an editor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changed, in present tense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commit = one meaningful change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projects are marked partly on commit history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5: Connect to GitHub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1572768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GitHub website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993392"/>
            <a:ext cx="497433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New repository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it: my-profile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Public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tick Add a README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Create repository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57276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052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22592" y="16002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 README yet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1993392"/>
            <a:ext cx="47914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README on GitHub creates a commit there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computer does not have that commit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push is then rejected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empty - it is simpler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11064240" cy="1290320"/>
          </a:xfrm>
          <a:prstGeom prst="roundRect">
            <a:avLst>
              <a:gd name="adj" fmla="val 425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3995928"/>
            <a:ext cx="10844784" cy="107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Copy the HTTPS URL GitHub shows you, then: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remote add origin https://github.com/YOUR-USERNAME/my-profile.git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branch -M main    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name the branch main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remote -v         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check the connection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6: git push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217920" cy="1290320"/>
          </a:xfrm>
          <a:prstGeom prst="roundRect">
            <a:avLst>
              <a:gd name="adj" fmla="val 425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5998464" cy="107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First push of a new repository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 -u origin main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Every push after that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6217920" cy="1022096"/>
          </a:xfrm>
          <a:prstGeom prst="roundRect">
            <a:avLst>
              <a:gd name="adj" fmla="val 5368"/>
            </a:avLst>
          </a:prstGeom>
          <a:solidFill>
            <a:srgbClr val="12202E"/>
          </a:solidFill>
          <a:ln w="12700">
            <a:solidFill>
              <a:srgbClr val="1220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3127248"/>
            <a:ext cx="5998464" cy="80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9B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Enumerating objects: 6, done.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9B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Writing objects: 100% (6/6), 1.21 KiB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9B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https://github.com/sadman/my-profile.git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9B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[new branch]      main -&gt; main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49440" y="1371600"/>
            <a:ext cx="4663440" cy="2194560"/>
          </a:xfrm>
          <a:prstGeom prst="roundRect">
            <a:avLst>
              <a:gd name="adj" fmla="val 3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205472" y="1572768"/>
            <a:ext cx="4151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-u does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1993392"/>
            <a:ext cx="415137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your local main to origin main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Needed only on the first push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that git push is enough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49440" y="3703320"/>
            <a:ext cx="4663440" cy="2240280"/>
          </a:xfrm>
          <a:prstGeom prst="roundRect">
            <a:avLst>
              <a:gd name="adj" fmla="val 3265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50608" y="390448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50608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662672" y="39319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Login: use a token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205472" y="4325112"/>
            <a:ext cx="415137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does not accept your password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&gt; Developer settings &gt; Personal access tokens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classic token, tick repo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the token where it asks for a password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6217920" cy="1371600"/>
          </a:xfrm>
          <a:prstGeom prst="roundRect">
            <a:avLst>
              <a:gd name="adj" fmla="val 5333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77316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61872" y="480060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check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5193792"/>
            <a:ext cx="5705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the GitHub page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index.html is there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link is what you submit for mini projects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.gitignore File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files must never go to GitHub. List them in a file named .gitignore in the project root.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035040" cy="2810256"/>
          </a:xfrm>
          <a:prstGeom prst="roundRect">
            <a:avLst>
              <a:gd name="adj" fmla="val 195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847088"/>
            <a:ext cx="5815584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Dependencies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Secret keys and passwords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Operating system files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.DS_Store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Thumbs.db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Editor settings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.vscode/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.idea/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66560" y="1737360"/>
            <a:ext cx="4846320" cy="2148840"/>
          </a:xfrm>
          <a:prstGeom prst="roundRect">
            <a:avLst>
              <a:gd name="adj" fmla="val 3404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022592" y="1938528"/>
            <a:ext cx="4334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push these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022592" y="2359152"/>
            <a:ext cx="43342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 and passwords (.env)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node_modules - thousands of files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editor settings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766560" y="4069080"/>
            <a:ext cx="4846320" cy="1874520"/>
          </a:xfrm>
          <a:prstGeom prst="roundRect">
            <a:avLst>
              <a:gd name="adj" fmla="val 390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022592" y="4270248"/>
            <a:ext cx="4334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write it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022592" y="4690872"/>
            <a:ext cx="433425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rule per line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folder/ ignores a whole folder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*.log ignores every .log file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it BEFORE your first commit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Workflow, Start to Finish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3200400"/>
          </a:xfrm>
          <a:prstGeom prst="roundRect">
            <a:avLst>
              <a:gd name="adj" fmla="val 171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35608"/>
            <a:ext cx="10844784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---------- ONCE PER PROJECT ----------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my-profile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 .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commit -m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"Initial commit: semantic profile page"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branch -M main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remote add origin https://github.com/YOUR-USERNAME/my-profile.git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 -u origin main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---------- EVERY TIME YOU CHANGE SOMETHING ----------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edit your files in VS Code and save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status                    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what changed?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 .                     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stage the changes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commit -m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"Add hobbies section"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                      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send to GitHub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53035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5504688"/>
            <a:ext cx="1055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Memorise the daily loop: status → add → commit → push. You will run it hundreds of times this semester.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CLINIC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Errors and Fixes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38074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fatal: not a git repository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074920" y="1362456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in the wrong folder. cd into the project, or you forgot git init.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29514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Authentication failed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2276856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typed your GitHub password. Use a personal access token instead.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20954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nothing to commit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3191256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forgot git add. Stage first, then commit.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12394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Updates were rejected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4105656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has a commit you do not have (usually a README). Run git pull origin main --rebase then push.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98348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03834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 refspec main does not match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5020056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not made any commit yet, or your branch is called master. Run git branch -M main.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i="1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conflicts exist, but we do not cover them today. We handle branches and pull requests in Week 8.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IN CLASS · PART 2 AT HOME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- Class 4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57276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002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1 - In-class demonstration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1993392"/>
            <a:ext cx="4974336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last 5 minutes of this class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push your Class 3 profile page to a public GitHub repository named my-profile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.gitignore with at least three rules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live GitHub page on your screen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Submission: show the repository URL to the instructor before leaving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Marks: 2 (checked on the spot)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157276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22592" y="16002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2 - Home task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1993392"/>
            <a:ext cx="4791456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README.md describing your page (use the template given)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at least three more commits with clear messages, for example: add hobbies section, fix image path, add README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everything to GitHub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Deadline: before the next class (Week 2, Class 1)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Submission: paste your repository URL in the class group / LMS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Marks: 3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5596128"/>
            <a:ext cx="1055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command from today is in the file git-cheatsheet.md. Keep it open while you work.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48-50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Marking Rubric &amp; Exit Check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- 5 MARKS TOTAL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69164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created and code pushed to GitHub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69164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46888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four commits with meaningful messages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46888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24612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.gitignore with sensible rules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24612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02336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 describes the project clearly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402336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406640" y="137160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662672" y="157276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question 1 - concept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662672" y="1993392"/>
            <a:ext cx="36941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difference between git add and git commit?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06640" y="320040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662672" y="340156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question 2 - practical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662672" y="3822192"/>
            <a:ext cx="36941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exact command that saves your staged changes with the message "Add footer".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1206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i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class (Week 2, Class 1): navigation, forms and tables - practical HTML patterns.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International Islamic University Chittagong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CSE-2340 W1C4 Git Basics</dc:title>
  <dc:subject>Git Basics</dc:subject>
  <dc:creator>Md Sadman Hafiz</dc:creator>
  <cp:lastModifiedBy>Md Sadman Hafiz</cp:lastModifiedBy>
  <cp:revision>1</cp:revision>
  <dcterms:created xsi:type="dcterms:W3CDTF">2026-08-29T02:48:07Z</dcterms:created>
  <dcterms:modified xsi:type="dcterms:W3CDTF">2026-08-29T02:48:07Z</dcterms:modified>
</cp:coreProperties>
</file>