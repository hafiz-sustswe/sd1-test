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students. State the goal of Week 1: understand how the web works, then set up the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C2 and C4 are working classes. Students must bring a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for timing: 40 minutes each, with a short exit check at the end of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into the first teaching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two or three students what they think happens before explaining.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Restaurant analogy: the customer orders, the kitchen prepares and sends back the dish.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boundary clear: anything the browser downloads is public. Never put a secret key in front-end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real URL from any site and ask students to name each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you know a person's name, but you need their house address to visit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light. Students only need the order of events, not the TLS handshake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real request and response header pair in DevTools.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only need GET today; the rest prepares them for later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Headers panel in DevTools and match each header to 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must find a real 200, 301/302, 404 and 500 during the practice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on any public site. Ask students to name the type of each of the first five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Network tab live and count the requests on a real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challenge task. Do not give the full answer away if you set it as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free hosting options briefly. Do not go into deployment detail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 student to repeat the six steps aloud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three minutes so that C2 starts on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 the last five minutes of C1. Keep each student to about thirty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Announce the deadline clearly and repeat the file naming rule; wrong names are the most common submission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Laptops open. From this point students type every command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finished result first so students know what they are aiming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install anything yet. The next slide is the installation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 the room. Installation problems are the main time cost of this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each panel on the projector as you name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the folder live so students can copy the structure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Windows folder option live if most students use Windows.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this live, letter by letter. Do not paste. Then change the title and reload.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DevTools device toolbar to show the difference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each tag and reload so students see the effect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broken-link step connects the practice directly back to the C1 status-code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break the path on purpose, read the 404, then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back to C1: students can now see their own request and status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status bar clearly on the projector; students often miss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three students to read their numbers aloud and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about 12 minutes here. Circulate and check each student's Network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Resist the urge to solve problems for them. Ask them what the error message says.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challenge answers at the start of C3.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student must produce one commit before leaving. Check a few on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in the last five minutes of C2. Watch for students still opening files with file://.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expected zip structure on the projector. Remind students not to include hidden system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reminding students to commit their work and bring the challenge answers next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5120640" cy="5120640"/>
          </a:xfrm>
          <a:prstGeom prst="ellipse">
            <a:avLst/>
          </a:prstGeom>
          <a:solidFill>
            <a:srgbClr val="14646A"/>
          </a:solidFill>
          <a:ln w="12700">
            <a:solidFill>
              <a:srgbClr val="1464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0F4B4C"/>
          </a:solidFill>
          <a:ln w="12700">
            <a:solidFill>
              <a:srgbClr val="0F4B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1737360"/>
            <a:ext cx="1371600" cy="1371600"/>
          </a:xfrm>
          <a:prstGeom prst="ellipse">
            <a:avLst/>
          </a:prstGeom>
          <a:solidFill>
            <a:srgbClr val="D99A3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 ·  LABORATORY  ·  WEEK 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84124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Software Development 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80467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FDA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Foundations: How the Web Works and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BFDA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Setting Up Your Development Environment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3703320" cy="502920"/>
          </a:xfrm>
          <a:prstGeom prst="roundRect">
            <a:avLst>
              <a:gd name="adj" fmla="val 49091"/>
            </a:avLst>
          </a:prstGeom>
          <a:solidFill>
            <a:srgbClr val="133F40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886200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 Class / Teaching  ·  40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3886200"/>
            <a:ext cx="3703320" cy="502920"/>
          </a:xfrm>
          <a:prstGeom prst="roundRect">
            <a:avLst>
              <a:gd name="adj" fmla="val 49091"/>
            </a:avLst>
          </a:prstGeom>
          <a:solidFill>
            <a:srgbClr val="133F40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3886200"/>
            <a:ext cx="3703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 Practice / Hands-on  ·  40 min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800600"/>
            <a:ext cx="80467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B4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Prepared and presented by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Md Sadman Hafiz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FDA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Lecturer, Department of Computer Science and Engineering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FDA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International Islamic University Chittagong (IIUC)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COURSE ORIENTATION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This Laboratory Course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406640" cy="1005840"/>
          </a:xfrm>
          <a:prstGeom prst="roundRect">
            <a:avLst>
              <a:gd name="adj" fmla="val 8182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36776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/ Teaching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947672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explain the concept, show the mental model, and build a live example.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7406640" cy="1005840"/>
          </a:xfrm>
          <a:prstGeom prst="roundRect">
            <a:avLst>
              <a:gd name="adj" fmla="val 8182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98648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986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52344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write, modify and debug the C1 concept with guided tasks.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7406640" cy="1005840"/>
          </a:xfrm>
          <a:prstGeom prst="roundRect">
            <a:avLst>
              <a:gd name="adj" fmla="val 8182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014216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142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86791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/ Teaching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178808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second concept of the week, again with a live demonstration.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55464"/>
            <a:ext cx="7406640" cy="1005840"/>
          </a:xfrm>
          <a:prstGeom prst="roundRect">
            <a:avLst>
              <a:gd name="adj" fmla="val 8182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129784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1297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9834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Practice / Evaluation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5294376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apply the whole week's skills; on project weeks this is your assessment.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0" y="1508760"/>
            <a:ext cx="3383280" cy="3950208"/>
          </a:xfrm>
          <a:prstGeom prst="roundRect">
            <a:avLst>
              <a:gd name="adj" fmla="val 2432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58200" y="1691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simple rules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58200" y="214884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practice class contains real hands-on work. It never becomes a second lecture.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measure learning by how much code you can copy.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58200" y="4160520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4251960"/>
            <a:ext cx="26517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it by whether you can explain it, modify it, debug it, and rebuild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Plan for the Two Classes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285232" cy="4160520"/>
          </a:xfrm>
          <a:prstGeom prst="roundRect">
            <a:avLst>
              <a:gd name="adj" fmla="val 1978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7373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40 minutes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 Architecture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2788920"/>
            <a:ext cx="461772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and server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Front-end and back-end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URL and DNS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requests, headers, status codes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rendering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1463040"/>
            <a:ext cx="5285232" cy="4160520"/>
          </a:xfrm>
          <a:prstGeom prst="roundRect">
            <a:avLst>
              <a:gd name="adj" fmla="val 1978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73736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73736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40 minutes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22402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Development Environment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75120" y="2788920"/>
            <a:ext cx="461772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VS Code, Node.js and npm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clean project folder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HTML page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second page, links and images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Server and DevTools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 work with Git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12700">
            <a:solidFill>
              <a:srgbClr val="EA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7607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 of the day: understand the journey of a web page, then build and run your own page on a local server.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0F4B4C"/>
          </a:solidFill>
          <a:ln w="12700">
            <a:solidFill>
              <a:srgbClr val="0F4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097280"/>
            <a:ext cx="3291840" cy="3291840"/>
          </a:xfrm>
          <a:prstGeom prst="ellipse">
            <a:avLst/>
          </a:prstGeom>
          <a:solidFill>
            <a:srgbClr val="14646A"/>
          </a:solidFill>
          <a:ln w="12700">
            <a:solidFill>
              <a:srgbClr val="146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2402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 ·  CLASS / TEACHING  ·  40 MINUTES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Web Architecture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FDA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and server · URL and DNS · HTTP, headers and status codes · Browser rendering · Hosting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MOTIVATION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92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64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really happens between typing a web address and seeing the page?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649224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development is not only HTML and CSS.</a:t>
            </a:r>
            <a:endParaRPr lang="en-US" sz="15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your mental model is wrong, your debugging will also be wrong.</a:t>
            </a:r>
            <a:endParaRPr lang="en-US" sz="15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Almost every later problem — a missing image, a slow page, a broken API call — is explained by this journey.</a:t>
            </a:r>
            <a:endParaRPr lang="en-US" sz="15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 we build the correct mental model first, and write code with it for the rest of the semester.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6492240" cy="914400"/>
          </a:xfrm>
          <a:prstGeom prst="roundRect">
            <a:avLst>
              <a:gd name="adj" fmla="val 9000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800600"/>
            <a:ext cx="6035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to keep in mind: you open one page — why does the browser make twenty network requests?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1463040"/>
            <a:ext cx="4233672" cy="4251960"/>
          </a:xfrm>
          <a:prstGeom prst="roundRect">
            <a:avLst>
              <a:gd name="adj" fmla="val 1944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1783080"/>
            <a:ext cx="3593592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17830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https://example.com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509760" y="2331720"/>
            <a:ext cx="0" cy="502920"/>
          </a:xfrm>
          <a:prstGeom prst="line">
            <a:avLst/>
          </a:prstGeom>
          <a:noFill/>
          <a:ln w="25400">
            <a:solidFill>
              <a:srgbClr val="2E8F92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26680" y="2880360"/>
            <a:ext cx="359359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D99A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?</a:t>
            </a:r>
            <a:endParaRPr lang="en-US" sz="5400" dirty="0"/>
          </a:p>
        </p:txBody>
      </p:sp>
      <p:sp>
        <p:nvSpPr>
          <p:cNvPr id="15" name="Shape 13"/>
          <p:cNvSpPr/>
          <p:nvPr/>
        </p:nvSpPr>
        <p:spPr>
          <a:xfrm>
            <a:off x="9509760" y="3977640"/>
            <a:ext cx="0" cy="457200"/>
          </a:xfrm>
          <a:prstGeom prst="line">
            <a:avLst/>
          </a:prstGeom>
          <a:noFill/>
          <a:ln w="25400">
            <a:solidFill>
              <a:srgbClr val="2E8F9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26680" y="4526280"/>
            <a:ext cx="359359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4526280"/>
            <a:ext cx="359359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visible web page</a:t>
            </a:r>
            <a:endParaRPr lang="en-US" sz="1400" dirty="0"/>
          </a:p>
        </p:txBody>
      </p:sp>
      <p:sp>
        <p:nvSpPr>
          <p:cNvPr id="18" name="Text Box 17"/>
          <p:cNvSpPr txBox="1"/>
          <p:nvPr/>
        </p:nvSpPr>
        <p:spPr>
          <a:xfrm>
            <a:off x="13435330" y="11836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Client and 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7373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Client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37744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that asks for a resource. Your browser is a client.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48472" y="1463040"/>
            <a:ext cx="3291840" cy="2377440"/>
          </a:xfrm>
          <a:prstGeom prst="roundRect">
            <a:avLst>
              <a:gd name="adj" fmla="val 3462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2792" y="1691640"/>
            <a:ext cx="502920" cy="50292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22792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62872" y="17373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Server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22792" y="237744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Software or infrastructure that answers the request and returns a resource.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977640" y="2148840"/>
            <a:ext cx="4206240" cy="0"/>
          </a:xfrm>
          <a:prstGeom prst="line">
            <a:avLst/>
          </a:prstGeom>
          <a:noFill/>
          <a:ln w="31750">
            <a:solidFill>
              <a:srgbClr val="14646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977640" y="17830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3017520"/>
            <a:ext cx="4206240" cy="0"/>
          </a:xfrm>
          <a:prstGeom prst="line">
            <a:avLst/>
          </a:prstGeom>
          <a:noFill/>
          <a:ln w="31750">
            <a:solidFill>
              <a:srgbClr val="D99A3E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977640" y="30632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6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idea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client never reads the server's disk directly.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asks, and the server decides what to return.</a:t>
            </a:r>
            <a:endParaRPr lang="en-US" sz="14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server answers many clients at the same time.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4069080"/>
            <a:ext cx="5330952" cy="1691640"/>
          </a:xfrm>
          <a:prstGeom prst="roundRect">
            <a:avLst>
              <a:gd name="adj" fmla="val 3243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4197096"/>
            <a:ext cx="5001768" cy="1435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A tiny "server" idea in JavaScript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handleRequest(path) {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 (path === "/") return "index.html";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"404 Not Found";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Front-End and Back-End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application has two sides. They run on different machines and fail in different ways.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5F8F7"/>
          </a:solidFill>
          <a:ln w="12700">
            <a:solidFill>
              <a:srgbClr val="1464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1920240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inside the browser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84632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gives the structure.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 gives the appearance.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JavaScript gives the behaviour.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can see and inspect all of it.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5352" y="192024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5352" y="192024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92024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Back-end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88552" y="1920240"/>
            <a:ext cx="2423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 the server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19672" y="2651760"/>
            <a:ext cx="4846320" cy="1965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business logic and rules.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Talks to databases and other services.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Keeps secrets such as passwords and keys.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never sees this code.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Software Development 1 we build the front-end first. From Week 8 we connect it to back-end services through HTTP.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Anatomy of a Web Address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URL is not one word. Each part tells the browser something different.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02536"/>
            <a:ext cx="10762488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https://www.iiuc.ac.bd:443/courses/cse2340?week=1#top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9864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209544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Scheme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20954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protocol to use. https adds encryption.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27889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289864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www.iiuc.ac.bd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89704" y="3209544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89704" y="3520440"/>
            <a:ext cx="320954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domain name that DNS will translate.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65008" y="27889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289864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:443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47888" y="3209544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47888" y="3520440"/>
            <a:ext cx="320954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door on the server. Usually hidden.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5312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/courses/cse2340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4764024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31520" y="5074920"/>
            <a:ext cx="320954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resource on that server.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06824" y="434340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445312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?week=1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89704" y="4764024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89704" y="5074920"/>
            <a:ext cx="320954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 data sent with the request.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65008" y="434340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47888" y="4453128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#top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47888" y="4764024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Fragment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47888" y="5074920"/>
            <a:ext cx="3209544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position inside the page. It never reaches the server.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DNS: From a Name to an Address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Computers communicate using IP addresses, not names. DNS is the phone book of the internet.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359152" cy="13716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40280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example.com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2697480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type a domain 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0088" y="2697480"/>
            <a:ext cx="384048" cy="0"/>
          </a:xfrm>
          <a:prstGeom prst="line">
            <a:avLst/>
          </a:prstGeom>
          <a:noFill/>
          <a:ln w="25400">
            <a:solidFill>
              <a:srgbClr val="2E8F9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56432" y="2011680"/>
            <a:ext cx="2359152" cy="1371600"/>
          </a:xfrm>
          <a:prstGeom prst="roundRect">
            <a:avLst>
              <a:gd name="adj" fmla="val 6000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40280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DNS resolver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697480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name is looked up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2697480"/>
            <a:ext cx="384048" cy="0"/>
          </a:xfrm>
          <a:prstGeom prst="line">
            <a:avLst/>
          </a:prstGeom>
          <a:noFill/>
          <a:ln w="25400">
            <a:solidFill>
              <a:srgbClr val="2E8F9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64224" y="2011680"/>
            <a:ext cx="2359152" cy="13716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240280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93.184.216.34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73952" y="2697480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IP address is returned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05672" y="2697480"/>
            <a:ext cx="384048" cy="0"/>
          </a:xfrm>
          <a:prstGeom prst="line">
            <a:avLst/>
          </a:prstGeom>
          <a:noFill/>
          <a:ln w="25400">
            <a:solidFill>
              <a:srgbClr val="2E8F9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72016" y="2011680"/>
            <a:ext cx="2359152" cy="1371600"/>
          </a:xfrm>
          <a:prstGeom prst="roundRect">
            <a:avLst>
              <a:gd name="adj" fmla="val 6000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2240280"/>
            <a:ext cx="213969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Connection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81744" y="2697480"/>
            <a:ext cx="2139696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browser can now connect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Important distinction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4340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 only finds the address of the server.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is what asks for the actual content.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DNS failure and an HTTP error are different problems.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09360" y="4160520"/>
            <a:ext cx="5330952" cy="1691640"/>
          </a:xfrm>
          <a:prstGeom prst="roundRect">
            <a:avLst>
              <a:gd name="adj" fmla="val 3243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4288536"/>
            <a:ext cx="5001768" cy="1435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nslookup example.com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Name:    example.com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Address: 93.184.216.34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After DNS: Connection and HTTPS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Knowing the address is not enough. The browser must open a connection before it can ask for anything.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57400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5740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75104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a TCP connection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230428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reliable channel is opened to the server's IP address and port.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61488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898648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986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81635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Agree on encryption (TLS)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71600" y="314553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https, both sides agree on keys so nobody in the middle can read the traffic.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602736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39896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398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the HTTP request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71600" y="3986784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now does the browser ask for the actual resource.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443984"/>
            <a:ext cx="6949440" cy="749808"/>
          </a:xfrm>
          <a:prstGeom prst="roundRect">
            <a:avLst>
              <a:gd name="adj" fmla="val 10976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58114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5811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498848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Reuse the connection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71600" y="482803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connection carries many later requests, which makes the page faster.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818120" y="1920240"/>
            <a:ext cx="3822192" cy="3273552"/>
          </a:xfrm>
          <a:prstGeom prst="roundRect">
            <a:avLst>
              <a:gd name="adj" fmla="val 2514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2084832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http and https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046720" y="2560320"/>
            <a:ext cx="3364992" cy="2450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sends everything as plain text.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sends the same messages, but encrypted.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Browsers now mark plain http pages as "not secure".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use https for anything public.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today, remember the order: address → connection → request → response. A broken step early makes every later step fail.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HTTP: The Request and the Response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 defines the rules of the conversation. Both sides send a short header block, and usually a body.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596896"/>
            <a:ext cx="5065776" cy="1344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 / HTTP/1.1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Host: example.com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Accept: text/html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53949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Method: what you want to do (GET).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Path: which resource you want (/).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Headers: extra information about the request.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5352" y="19659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96596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45352" y="246888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9944" y="2596896"/>
            <a:ext cx="5065776" cy="1344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HTTP/1.1 200 OK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Content-Type: text/html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&lt;html&gt; ... &lt;/html&gt;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5352" y="4206240"/>
            <a:ext cx="53949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code: the result category (200).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Headers: how to read the body.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Body: the actual HTML, image or data.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Common HTTP Methods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1051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1051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94560" y="170078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a resource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2057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a page, load an image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871216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71216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94560" y="276148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new data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94560" y="311810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 a registration form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75888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9319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3192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194560" y="3822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a resource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194560" y="417880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a full profile record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6766560" cy="960120"/>
          </a:xfrm>
          <a:prstGeom prst="roundRect">
            <a:avLst>
              <a:gd name="adj" fmla="val 8571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4992624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92624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DELETE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194560" y="488289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a resource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194560" y="5239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a saved post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35240" y="1554480"/>
            <a:ext cx="4005072" cy="4160520"/>
          </a:xfrm>
          <a:prstGeom prst="roundRect">
            <a:avLst>
              <a:gd name="adj" fmla="val 2055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73736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Remember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863840" y="2194560"/>
            <a:ext cx="35661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method describes the intention of the request.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Opening a normal web page is almost always a GET.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will use POST later when we work with APIs.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863840" y="4343400"/>
            <a:ext cx="3566160" cy="1188720"/>
          </a:xfrm>
          <a:prstGeom prst="roundRect">
            <a:avLst>
              <a:gd name="adj" fmla="val 4615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4471416"/>
            <a:ext cx="3236976" cy="9326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 /about.html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 /api/users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Headers You Will Meet Often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Headers are short name and value pairs. They describe the message instead of being the message.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457200"/>
          </a:xfrm>
          <a:prstGeom prst="roundRect">
            <a:avLst>
              <a:gd name="adj" fmla="val 18000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HEADERS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9631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Host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277977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website on that server.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63824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0954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Accept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49300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content types the client can read.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77056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92277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User-Agent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420624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browser is asking.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590288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63600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Cookie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91947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the site stored earlier.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45352" y="1920240"/>
            <a:ext cx="5394960" cy="457200"/>
          </a:xfrm>
          <a:prstGeom prst="roundRect">
            <a:avLst>
              <a:gd name="adj" fmla="val 18000"/>
            </a:avLst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19202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HEADERS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45352" y="2450592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49631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Content-Type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277977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to read the body: HTML, image, JSON.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45352" y="3163824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20954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Content-Length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73952" y="349300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large the body is.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45352" y="3877056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392277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Cache-Control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73952" y="420624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long the file may be reused.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45352" y="4590288"/>
            <a:ext cx="539496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463600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Location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73952" y="491947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to go on a redirect.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use: if an image does not display, check Content-Type. If an old file keeps loading, check Cache-Control.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Status Codes: Reading the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digit tells you the category. Not every non-200 code is an application error.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97480" cy="2926080"/>
          </a:xfrm>
          <a:prstGeom prst="roundRect">
            <a:avLst>
              <a:gd name="adj" fmla="val 3051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2xx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27432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1546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200 OK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611880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request worked and the body is here.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19856" y="1965960"/>
            <a:ext cx="2697480" cy="2926080"/>
          </a:xfrm>
          <a:prstGeom prst="roundRect">
            <a:avLst>
              <a:gd name="adj" fmla="val 3051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9856" y="196596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2E8F92"/>
          </a:solidFill>
          <a:ln w="6350">
            <a:solidFill>
              <a:srgbClr val="2E8F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965960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3xx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557016" y="27432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Redirect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57016" y="31546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8F9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301 / 302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02736" y="3611880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resource lives at another address.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1072" y="1965960"/>
            <a:ext cx="2697480" cy="2926080"/>
          </a:xfrm>
          <a:prstGeom prst="roundRect">
            <a:avLst>
              <a:gd name="adj" fmla="val 3051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196596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965960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4xx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28232" y="27432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error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28232" y="31546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9A3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404 Not Found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3611880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request itself was wrong or the path does not exist.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162288" y="1965960"/>
            <a:ext cx="2697480" cy="2926080"/>
          </a:xfrm>
          <a:prstGeom prst="roundRect">
            <a:avLst>
              <a:gd name="adj" fmla="val 3051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62288" y="1965960"/>
            <a:ext cx="2697480" cy="685800"/>
          </a:xfrm>
          <a:prstGeom prst="roundRect">
            <a:avLst>
              <a:gd name="adj" fmla="val 12000"/>
            </a:avLst>
          </a:prstGeom>
          <a:solidFill>
            <a:srgbClr val="A4553A"/>
          </a:solidFill>
          <a:ln w="6350">
            <a:solidFill>
              <a:srgbClr val="A455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62288" y="1965960"/>
            <a:ext cx="26974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5xx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299448" y="274320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error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99448" y="31546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455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500 Internal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45168" y="3611880"/>
            <a:ext cx="233172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request was fine, but the server failed.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habit: read the status code first. A 404 means you asked for the wrong path; a 500 means the server code broke.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TOOLING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Reading the DevTools Network Tab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one panel answers most resource questions. Learn to read it now and you will save hours later.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6949440" cy="731520"/>
          </a:xfrm>
          <a:prstGeom prst="roundRect">
            <a:avLst>
              <a:gd name="adj" fmla="val 1125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02536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0253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29384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DevTools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71600" y="225856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Press F12, or right-click the page and choose Inspect.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6949440" cy="731520"/>
          </a:xfrm>
          <a:prstGeom prst="roundRect">
            <a:avLst>
              <a:gd name="adj" fmla="val 1125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825496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2549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52344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the Network tab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71600" y="308152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Then reload the page so the list fills.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6949440" cy="731520"/>
          </a:xfrm>
          <a:prstGeom prst="roundRect">
            <a:avLst>
              <a:gd name="adj" fmla="val 1125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648456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4845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575304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document request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71600" y="390448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row is the HTML page itself.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6949440" cy="731520"/>
          </a:xfrm>
          <a:prstGeom prst="roundRect">
            <a:avLst>
              <a:gd name="adj" fmla="val 1125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471416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4714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398264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every column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371600" y="472744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Status, Type, Size and Time tell the whole story.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6949440" cy="731520"/>
          </a:xfrm>
          <a:prstGeom prst="roundRect">
            <a:avLst>
              <a:gd name="adj" fmla="val 1125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5294376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29437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71600" y="5221224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one request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371600" y="5550408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Headers, Preview and Response show the details.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818120" y="1874520"/>
            <a:ext cx="3822192" cy="4023360"/>
          </a:xfrm>
          <a:prstGeom prst="roundRect">
            <a:avLst>
              <a:gd name="adj" fmla="val 2153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0" y="2039112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columns mean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8046720" y="2514600"/>
            <a:ext cx="3364992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Name: the file that was requested.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the HTTP status code.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Type: document, stylesheet, script, image or font.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Size: how many bytes travelled.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Time: how long the request took.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Browser Builds the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0078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007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HTML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71600" y="1938528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response is only the HTML document.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6946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6946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46888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Parse HTML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71600" y="2807208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browser reads the markup and builds a structure.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3814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381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3756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Discover resources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71600" y="3675888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finds CSS, JavaScript, images and fonts.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0682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0682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20624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each one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71600" y="4544568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resource becomes a separate HTTP request.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29200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17550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1755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07492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371600" y="5413248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Styles are applied and the page becomes visible.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18120" y="1554480"/>
            <a:ext cx="3822192" cy="4160520"/>
          </a:xfrm>
          <a:prstGeom prst="roundRect">
            <a:avLst>
              <a:gd name="adj" fmla="val 2153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737360"/>
            <a:ext cx="33832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page,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many requests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046720" y="2606040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D99A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20+</a:t>
            </a:r>
            <a:endParaRPr lang="en-US" sz="5600" dirty="0"/>
          </a:p>
        </p:txBody>
      </p:sp>
      <p:sp>
        <p:nvSpPr>
          <p:cNvPr id="34" name="Text 32"/>
          <p:cNvSpPr/>
          <p:nvPr/>
        </p:nvSpPr>
        <p:spPr>
          <a:xfrm>
            <a:off x="8046720" y="35204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requests are normal for a single simple page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46720" y="4251960"/>
            <a:ext cx="33832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why HTML can load while one image still fails.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request has its own status code.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Part of a Page Can Fail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resource travels separately, so each one succeeds or fails on its own.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5394960" cy="457200"/>
          </a:xfrm>
          <a:prstGeom prst="roundRect">
            <a:avLst>
              <a:gd name="adj" fmla="val 18000"/>
            </a:avLst>
          </a:prstGeom>
          <a:solidFill>
            <a:srgbClr val="5F7273"/>
          </a:solidFill>
          <a:ln w="6350">
            <a:solidFill>
              <a:srgbClr val="5F72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example.com  —  the page loads, but not completely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My Course Page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is visible because the HTML response was 200 OK.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2194560" cy="1234440"/>
          </a:xfrm>
          <a:prstGeom prst="roundRect">
            <a:avLst>
              <a:gd name="adj" fmla="val 4444"/>
            </a:avLst>
          </a:prstGeom>
          <a:solidFill>
            <a:srgbClr val="F0DCD6"/>
          </a:solidFill>
          <a:ln w="12700">
            <a:solidFill>
              <a:srgbClr val="A4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20440"/>
            <a:ext cx="21945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455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image 404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91840" y="3520440"/>
            <a:ext cx="23317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3520440"/>
            <a:ext cx="233172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27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style.css 404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F727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so no colours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45352" y="192024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103120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diagnose it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73952" y="2606040"/>
            <a:ext cx="493776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page opened, so DNS and the server are fine.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Network tab and look for red rows.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404 on an image means the path or file name is wrong.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missing stylesheet usually means a wrong folder name.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the path, save, and reload.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Rule: never say "the site is broken". Say which request failed and with which status code.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CONCEPT 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Hosting: Making Your Work Public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Hosting means placing your files on a machine that is always running and reachable through HTTP.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2E8F92"/>
          </a:solidFill>
          <a:ln w="6350">
            <a:solidFill>
              <a:srgbClr val="2E8F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 your computer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file opens from your own disk.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you can see it.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address looks like file:///...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domain name is involved.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5352" y="1965960"/>
            <a:ext cx="5394960" cy="2880360"/>
          </a:xfrm>
          <a:prstGeom prst="roundRect">
            <a:avLst>
              <a:gd name="adj" fmla="val 2857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196596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965960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 a host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19672" y="269748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files live on a server.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Anyone with the link can see it.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address looks like https://...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domain name points to it through DNS.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0749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12700">
            <a:solidFill>
              <a:srgbClr val="EAF1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the end of this course you will host your final group project, so people outside the classroom can open it.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Complete Journey of One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572768" cy="1965960"/>
          </a:xfrm>
          <a:prstGeom prst="roundRect">
            <a:avLst>
              <a:gd name="adj" fmla="val 5233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084832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848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2670048"/>
            <a:ext cx="1426464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type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address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67128" y="2880360"/>
            <a:ext cx="228600" cy="0"/>
          </a:xfrm>
          <a:prstGeom prst="line">
            <a:avLst/>
          </a:prstGeom>
          <a:noFill/>
          <a:ln w="25400">
            <a:solidFill>
              <a:srgbClr val="D99A3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41448" y="1920240"/>
            <a:ext cx="1572768" cy="1965960"/>
          </a:xfrm>
          <a:prstGeom prst="roundRect">
            <a:avLst>
              <a:gd name="adj" fmla="val 5233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2084832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20848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2670048"/>
            <a:ext cx="1426464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 returns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IP address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59936" y="2880360"/>
            <a:ext cx="228600" cy="0"/>
          </a:xfrm>
          <a:prstGeom prst="line">
            <a:avLst/>
          </a:prstGeom>
          <a:noFill/>
          <a:ln w="25400">
            <a:solidFill>
              <a:srgbClr val="D99A3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34256" y="1920240"/>
            <a:ext cx="1572768" cy="1965960"/>
          </a:xfrm>
          <a:prstGeom prst="roundRect">
            <a:avLst>
              <a:gd name="adj" fmla="val 5233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82896" y="2084832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20848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07408" y="2670048"/>
            <a:ext cx="1426464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connection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opened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52744" y="2880360"/>
            <a:ext cx="228600" cy="0"/>
          </a:xfrm>
          <a:prstGeom prst="line">
            <a:avLst/>
          </a:prstGeom>
          <a:noFill/>
          <a:ln w="25400">
            <a:solidFill>
              <a:srgbClr val="D99A3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27064" y="1920240"/>
            <a:ext cx="1572768" cy="1965960"/>
          </a:xfrm>
          <a:prstGeom prst="roundRect">
            <a:avLst>
              <a:gd name="adj" fmla="val 5233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75704" y="2084832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704" y="20848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0216" y="2670048"/>
            <a:ext cx="1426464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sends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HTTP request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45552" y="2880360"/>
            <a:ext cx="228600" cy="0"/>
          </a:xfrm>
          <a:prstGeom prst="line">
            <a:avLst/>
          </a:prstGeom>
          <a:noFill/>
          <a:ln w="25400">
            <a:solidFill>
              <a:srgbClr val="D99A3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19872" y="1920240"/>
            <a:ext cx="1572768" cy="1965960"/>
          </a:xfrm>
          <a:prstGeom prst="roundRect">
            <a:avLst>
              <a:gd name="adj" fmla="val 5233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68512" y="2084832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68512" y="20848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93024" y="2670048"/>
            <a:ext cx="1426464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replies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a status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a body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738360" y="2880360"/>
            <a:ext cx="228600" cy="0"/>
          </a:xfrm>
          <a:prstGeom prst="line">
            <a:avLst/>
          </a:prstGeom>
          <a:noFill/>
          <a:ln w="25400">
            <a:solidFill>
              <a:srgbClr val="D99A3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12680" y="1920240"/>
            <a:ext cx="1572768" cy="1965960"/>
          </a:xfrm>
          <a:prstGeom prst="roundRect">
            <a:avLst>
              <a:gd name="adj" fmla="val 5233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61320" y="2084832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61320" y="20848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85832" y="2670048"/>
            <a:ext cx="1426464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page</a:t>
            </a:r>
            <a:endParaRPr lang="en-US" sz="1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rendered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can explain these six steps in your own words, you already understand more than most beginners.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FDA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 answers "where is the server?" — HTTP answers "give me this resource".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BFDA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resource on the page travels through the same journey.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EXIT CHECK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Common Mistakes and Exit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Mistakes to avoid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A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96596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Confusing DNS with HTTP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34440" y="2295144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DNS finds the server. HTTP asks for the content.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53512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64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862072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Thinking a browser receives one file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3191256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page usually needs many separate responses.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666744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849624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99A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34440" y="3758184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Treating every status code as an error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34440" y="4087368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301 redirect is normal behaviour, not a bug.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62856"/>
            <a:ext cx="5669280" cy="822960"/>
          </a:xfrm>
          <a:prstGeom prst="roundRect">
            <a:avLst>
              <a:gd name="adj" fmla="val 10000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45736"/>
            <a:ext cx="411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646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34440" y="4654296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Ignoring the Network tab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34440" y="4983480"/>
            <a:ext cx="4800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answer to most resource problems is already there.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Answer these before we start C2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92240" y="1874520"/>
            <a:ext cx="5148072" cy="822960"/>
          </a:xfrm>
          <a:prstGeom prst="roundRect">
            <a:avLst>
              <a:gd name="adj" fmla="val 10000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93408" y="2048256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204825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1874520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does DNS do?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92240" y="2770632"/>
            <a:ext cx="5148072" cy="822960"/>
          </a:xfrm>
          <a:prstGeom prst="roundRect">
            <a:avLst>
              <a:gd name="adj" fmla="val 10000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93408" y="2944368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294436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2770632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contained in an HTTP response?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492240" y="3666744"/>
            <a:ext cx="5148072" cy="822960"/>
          </a:xfrm>
          <a:prstGeom prst="roundRect">
            <a:avLst>
              <a:gd name="adj" fmla="val 10000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93408" y="3840480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93408" y="38404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0" y="3666744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can one page produce many network requests?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492240" y="4562856"/>
            <a:ext cx="5148072" cy="822960"/>
          </a:xfrm>
          <a:prstGeom prst="roundRect">
            <a:avLst>
              <a:gd name="adj" fmla="val 10000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93408" y="4736592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3408" y="473659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0" y="4562856"/>
            <a:ext cx="41605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the difference between a 404 and a 500?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task: explain why a page can show HTML successfully while a CSS file or an image fails separately.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ASSIGNMENT 1A · PART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 1: Show It Before You Leave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Tasks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4767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47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184708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any public website, open the Network tab and reload the page.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7919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79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57860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the document request and read its status code aloud.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1071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410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331012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 to one CSS, one JavaScript and one image request.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4223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04164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how many requests the page made in total.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77316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87375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8737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477316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in one sentence what DNS did before all of this.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26680" y="1417320"/>
            <a:ext cx="3913632" cy="2011680"/>
          </a:xfrm>
          <a:prstGeom prst="roundRect">
            <a:avLst>
              <a:gd name="adj" fmla="val 4091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157276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show it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55280" y="196596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 on your own screen in class.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Marks are given on the spot.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Nothing is uploaded for this part.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Time: the last five minutes of C1.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26680" y="3566160"/>
            <a:ext cx="3913632" cy="1892808"/>
          </a:xfrm>
          <a:prstGeom prst="roundRect">
            <a:avLst>
              <a:gd name="adj" fmla="val 4348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7033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Marks: 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955280" y="4114800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document request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0" y="411480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55280" y="444398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Naming resource types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789920" y="444398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55280" y="477316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request count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789920" y="477316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0" y="510235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Spoken explanation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789920" y="510235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 must demonstrate. If your laptop fails, use a classmate's machine but explain the screen yourself.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C1 · ASSIGNMENT 1A · PART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 2: Home Task for the Next Class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Tasks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4767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47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184708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 the six-step journey of one page in your own diagram.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7919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79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57860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five requests in a table: name, type, status, size.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1071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410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331012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one 2xx, one 3xx and one 4xx response and note each address.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4223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04164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in 100 to 150 words why HTML can load while an image fails.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77316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87375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8737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477316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Bring the work to C3 and be ready to explain it in one minute.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26680" y="1417320"/>
            <a:ext cx="3913632" cy="2011680"/>
          </a:xfrm>
          <a:prstGeom prst="roundRect">
            <a:avLst>
              <a:gd name="adj" fmla="val 4091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157276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submit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55280" y="196596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PDF file, handwritten or typed.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name: CSE2340_W1_C1_yourID.pdf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to the course portal.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Deadline: before the next class (C3).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26680" y="3566160"/>
            <a:ext cx="3913632" cy="1892808"/>
          </a:xfrm>
          <a:prstGeom prst="roundRect">
            <a:avLst>
              <a:gd name="adj" fmla="val 4348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7033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Marks: 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955280" y="4114800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Journey diagram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0" y="411480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55280" y="444398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table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789920" y="444398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55280" y="477316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code examples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789920" y="477316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0" y="510235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Written explanation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789920" y="510235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Individual work. Screenshots must come from your own browser. Copied submissions receive zero for every student involved.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023360"/>
            <a:ext cx="4206240" cy="4206240"/>
          </a:xfrm>
          <a:prstGeom prst="ellipse">
            <a:avLst/>
          </a:prstGeom>
          <a:solidFill>
            <a:srgbClr val="0F4B4C"/>
          </a:solidFill>
          <a:ln w="12700">
            <a:solidFill>
              <a:srgbClr val="0F4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097280"/>
            <a:ext cx="3291840" cy="3291840"/>
          </a:xfrm>
          <a:prstGeom prst="ellipse">
            <a:avLst/>
          </a:prstGeom>
          <a:solidFill>
            <a:srgbClr val="D99A3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2402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 ·  PRACTICE CLASS  ·  40 MINUTES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0584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Development Environment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611880"/>
            <a:ext cx="95097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FDA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not a normal lecture. You implement, modify, test and debug the C1 concept through guided tasks.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GOAL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You Will Build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small project folder with two pages, running on a local server and saved in Git.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852160" cy="3200400"/>
          </a:xfrm>
          <a:prstGeom prst="roundRect">
            <a:avLst>
              <a:gd name="adj" fmla="val 2571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5F7273"/>
          </a:solidFill>
          <a:ln w="6350">
            <a:solidFill>
              <a:srgbClr val="5F72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http://127.0.0.1:5500/index.html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5603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CSE-2340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first local web page.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3832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  ·   About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794760"/>
            <a:ext cx="2743200" cy="1143000"/>
          </a:xfrm>
          <a:prstGeom prst="roundRect">
            <a:avLst>
              <a:gd name="adj" fmla="val 4800"/>
            </a:avLst>
          </a:prstGeom>
          <a:solidFill>
            <a:srgbClr val="EAF1F0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794760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image here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920240"/>
            <a:ext cx="4965192" cy="3200400"/>
          </a:xfrm>
          <a:prstGeom prst="roundRect">
            <a:avLst>
              <a:gd name="adj" fmla="val 2571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103120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Definition of done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903720" y="2606040"/>
            <a:ext cx="4480560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 and npm both print a version number.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folder is open in VS Code.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index.html and about.html are linked to each other.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page runs from an http:// address, not file://.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clear Git commit is saved.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finish early, help the student next to you instead of starting new work.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SETUP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Four Tools You Will 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97480" cy="2651760"/>
          </a:xfrm>
          <a:prstGeom prst="roundRect">
            <a:avLst>
              <a:gd name="adj" fmla="val 3103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1620" y="1828800"/>
            <a:ext cx="731520" cy="73152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3162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VS Code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290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you create and change source files.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19856" y="1600200"/>
            <a:ext cx="2697480" cy="2651760"/>
          </a:xfrm>
          <a:prstGeom prst="roundRect">
            <a:avLst>
              <a:gd name="adj" fmla="val 3103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2836" y="1828800"/>
            <a:ext cx="731520" cy="731520"/>
          </a:xfrm>
          <a:prstGeom prst="ellipse">
            <a:avLst/>
          </a:prstGeom>
          <a:solidFill>
            <a:srgbClr val="2E8F92"/>
          </a:solidFill>
          <a:ln w="6350">
            <a:solidFill>
              <a:srgbClr val="2E8F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2836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57016" y="26974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Node.js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57016" y="306324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F9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02736" y="34290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JavaScript runtime used by modern tooling.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91072" y="1600200"/>
            <a:ext cx="2697480" cy="2651760"/>
          </a:xfrm>
          <a:prstGeom prst="roundRect">
            <a:avLst>
              <a:gd name="adj" fmla="val 3103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4052" y="1828800"/>
            <a:ext cx="731520" cy="73152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4052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28232" y="26974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npm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28232" y="306324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 manager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73952" y="34290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Installs packages and runs project scripts.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62288" y="1600200"/>
            <a:ext cx="2697480" cy="2651760"/>
          </a:xfrm>
          <a:prstGeom prst="roundRect">
            <a:avLst>
              <a:gd name="adj" fmla="val 3103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45268" y="1828800"/>
            <a:ext cx="731520" cy="731520"/>
          </a:xfrm>
          <a:prstGeom prst="ellipse">
            <a:avLst/>
          </a:prstGeom>
          <a:solidFill>
            <a:srgbClr val="8A6D3B"/>
          </a:solidFill>
          <a:ln w="6350">
            <a:solidFill>
              <a:srgbClr val="8A6D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45268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99448" y="26974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Server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9299448" y="306324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6D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server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45168" y="34290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Serves your project through HTTP while you develop.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Git will join this list at the end of the class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records versions of your work.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not a backup tool; it is a history tool.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45352" y="4892040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892040"/>
            <a:ext cx="4983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professional project you will ever open uses some version of these five tools.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Install and Verify Your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tool is only ready when it answers you in the terminal. Check every one before writing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669280" cy="2011680"/>
          </a:xfrm>
          <a:prstGeom prst="roundRect">
            <a:avLst>
              <a:gd name="adj" fmla="val 2727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48256"/>
            <a:ext cx="5340096" cy="1755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node --version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v20.11.1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npm --version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10.2.4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--version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git version 2.43.0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5148072" cy="2011680"/>
          </a:xfrm>
          <a:prstGeom prst="roundRect">
            <a:avLst>
              <a:gd name="adj" fmla="val 4091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08483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 VS Code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2542032"/>
            <a:ext cx="46634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terminal: Ctrl + ` (backtick).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Extensions panel: Ctrl + Shift + X.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for "Live Server" and install it.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 something fails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5262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455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"command not found"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4526280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tool is not installed, or the PATH is not set.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02352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455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 old version appears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77640" y="5102352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 and reopen the terminal after installing.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678424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678424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4553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Permission errors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77640" y="5678424"/>
            <a:ext cx="7406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use sudo with npm on your own laptop.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Short Tour of VS Code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2364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236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71600" y="195681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file tree of the folder you opened. Ctrl + Shift + 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9232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232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49631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71600" y="282549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you type. Several files can be open in tabs.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6100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610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6499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terminal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71600" y="369417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commands without leaving the editor. Ctrl + ` 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2968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296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23367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71600" y="456285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 features such as Live Server. Ctrl + Shift + X.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4748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19836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19836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10235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control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371600" y="543153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status, staged changes and commits. Ctrl + Shift + G.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18120" y="1572768"/>
            <a:ext cx="3822192" cy="4251960"/>
          </a:xfrm>
          <a:prstGeom prst="roundRect">
            <a:avLst>
              <a:gd name="adj" fmla="val 2153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73736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Habits worth building now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046720" y="2212848"/>
            <a:ext cx="3364992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open a folder, never a single file.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with Ctrl + S often.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the terminal open at the bottom.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Ctrl + P to jump to any file by name.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the document with Shift + Alt + F.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Create a Clean Project Folder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predictable folder structure prevents most beginner problems: wrong file opened, broken links, missing images.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94960" cy="2651760"/>
          </a:xfrm>
          <a:prstGeom prst="roundRect">
            <a:avLst>
              <a:gd name="adj" fmla="val 2069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93976"/>
            <a:ext cx="5065776" cy="23957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cse2340-week1/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index.html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about.html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css/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style.css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images/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logo.png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README.md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965960"/>
            <a:ext cx="5394960" cy="2651760"/>
          </a:xfrm>
          <a:prstGeom prst="roundRect">
            <a:avLst>
              <a:gd name="adj" fmla="val 3103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1488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Rules for the folder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73952" y="2606040"/>
            <a:ext cx="49377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folder in VS Code, not a single file.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lowercase names and no spaces.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images and CSS in their own folders.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home page is always named index.html.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index.html? A server returns it automatically when the visitor asks for the folder itself.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File Names and Paths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Servers are stricter than your laptop. A name that works on Windows can fail after hosting.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5F8F7"/>
          </a:solidFill>
          <a:ln w="12700">
            <a:solidFill>
              <a:srgbClr val="1464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2024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 this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index.html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04495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about.html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483864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css/style.css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92277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images/logo.png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Lowercase, no spaces, forward slashes.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45352" y="192024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5F8F7"/>
          </a:solidFill>
          <a:ln w="12700">
            <a:solidFill>
              <a:srgbClr val="A455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92024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A4553A"/>
          </a:solidFill>
          <a:ln w="6350">
            <a:solidFill>
              <a:srgbClr val="A455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92024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Avoid this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9672" y="260604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My Page.html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19672" y="3044952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Index.HTML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19672" y="3483864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index.html.txt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19672" y="3922776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images\logo.png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19672" y="443484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Spaces, capitals, hidden extensions, backslashes.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Windows hides known extensions by default. Turn that setting off, or you will keep saving index.html.txt by mistake.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Your First HTML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675120" cy="4297680"/>
          </a:xfrm>
          <a:prstGeom prst="roundRect">
            <a:avLst>
              <a:gd name="adj" fmla="val 1277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591056"/>
            <a:ext cx="6345936" cy="4041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&lt;!doctype html&gt;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&lt;html lang="en"&gt;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&lt;head&gt;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&lt;meta charset="UTF-8"&gt;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&lt;meta name="viewport"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content="width=device-width, initial-scale=1.0"&gt;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&lt;title&gt;CSE-2340&lt;/title&gt;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&lt;/head&gt;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&lt;body&gt;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&lt;h1&gt;CSE-2340&lt;/h1&gt;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&lt;p&gt;My first local web page.&lt;/p&gt;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&lt;/body&gt;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&lt;/html&gt;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52360" y="1463040"/>
            <a:ext cx="4187952" cy="804672"/>
          </a:xfrm>
          <a:prstGeom prst="roundRect">
            <a:avLst>
              <a:gd name="adj" fmla="val 10227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51790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&lt;!doctype html&gt;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35240" y="1810512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Tells the browser to use modern HTML rules.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52360" y="2340864"/>
            <a:ext cx="4187952" cy="804672"/>
          </a:xfrm>
          <a:prstGeom prst="roundRect">
            <a:avLst>
              <a:gd name="adj" fmla="val 10227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395728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&lt;html lang="en"&gt;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0" y="2688336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root element and the page language.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3218688"/>
            <a:ext cx="4187952" cy="804672"/>
          </a:xfrm>
          <a:prstGeom prst="roundRect">
            <a:avLst>
              <a:gd name="adj" fmla="val 10227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3273552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&lt;head&gt;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35240" y="3566160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about the page, not visible content.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52360" y="4096512"/>
            <a:ext cx="4187952" cy="804672"/>
          </a:xfrm>
          <a:prstGeom prst="roundRect">
            <a:avLst>
              <a:gd name="adj" fmla="val 10227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35240" y="4151376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&lt;title&gt;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4443984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text shown on the browser tab.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4974336"/>
            <a:ext cx="4187952" cy="804672"/>
          </a:xfrm>
          <a:prstGeom prst="roundRect">
            <a:avLst>
              <a:gd name="adj" fmla="val 10227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5029200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&lt;body&gt;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5321808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the visitor actually sees.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Two Meta Tags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two lines look small, but they fix two very common beginner problems.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48256"/>
            <a:ext cx="10762488" cy="612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&lt;meta charset="UTF-8"&gt;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&lt;meta name="viewport" content="width=device-width, initial-scale=1.0"&gt;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5F8F7"/>
          </a:solidFill>
          <a:ln w="12700">
            <a:solidFill>
              <a:srgbClr val="146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charset="UTF-8"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5204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Character encoding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31920"/>
            <a:ext cx="48463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Tells the browser how to read the letters.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it, Bangla text and symbols can appear as strange characters.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place it first inside &lt;head&gt;.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01752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320040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9A3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viewport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19672" y="35204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Mobile scaling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9672" y="3931920"/>
            <a:ext cx="484632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Tells the browser to use the real device width.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it, a phone shows a shrunken desktop page.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removing it and open the page on a phone.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Task: delete the viewport line, reload with the phone view in DevTools, then put it back.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Tags You Need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400800" cy="3703320"/>
          </a:xfrm>
          <a:prstGeom prst="roundRect">
            <a:avLst>
              <a:gd name="adj" fmla="val 1481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636776"/>
            <a:ext cx="6071616" cy="34472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&lt;h1&gt;Main heading&lt;/h1&gt;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&lt;h2&gt;Section heading&lt;/h2&gt;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&lt;p&gt;A paragraph of text.&lt;/p&gt;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 href="about.html"&gt;About this course&lt;/a&gt;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&lt;img src="images/logo.png" alt="IIUC logo"&gt;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&lt;ul&gt;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&lt;li&gt;First point&lt;/li&gt;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&lt;li&gt;Second point&lt;/li&gt;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&lt;/ul&gt;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1508760"/>
            <a:ext cx="4416552" cy="713232"/>
          </a:xfrm>
          <a:prstGeom prst="roundRect">
            <a:avLst>
              <a:gd name="adj" fmla="val 1153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545336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&lt;h1&gt; to &lt;h6&gt;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06640" y="1837944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Headings, from most to least important.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2295144"/>
            <a:ext cx="4416552" cy="713232"/>
          </a:xfrm>
          <a:prstGeom prst="roundRect">
            <a:avLst>
              <a:gd name="adj" fmla="val 1153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2331720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0" y="2624328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paragraph of 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3081528"/>
            <a:ext cx="4416552" cy="713232"/>
          </a:xfrm>
          <a:prstGeom prst="roundRect">
            <a:avLst>
              <a:gd name="adj" fmla="val 1153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3118104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 href="..."&gt;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3410712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link to another page or site.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23760" y="3867912"/>
            <a:ext cx="4416552" cy="713232"/>
          </a:xfrm>
          <a:prstGeom prst="roundRect">
            <a:avLst>
              <a:gd name="adj" fmla="val 1153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3904488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&lt;img src alt&gt;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4197096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image and its text description.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23760" y="4654296"/>
            <a:ext cx="4416552" cy="713232"/>
          </a:xfrm>
          <a:prstGeom prst="roundRect">
            <a:avLst>
              <a:gd name="adj" fmla="val 1153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4690872"/>
            <a:ext cx="4069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&lt;ul&gt; and &lt;li&gt;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4983480"/>
            <a:ext cx="406908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list of items.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one &lt;h1&gt; per page. Headings describe structure; they are not a way to make text bigger.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Add a Second Page and Link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pages in the same folder can point at each other with a simple relative path.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48256"/>
            <a:ext cx="5065776" cy="17556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&lt;!-- inside index.html --&gt;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 href="about.html"&gt;About&lt;/a&gt;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&lt;!-- inside about.html --&gt;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&lt;a href="index.html"&gt;Home&lt;/a&gt;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92024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08483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Relative and absolute paths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2542032"/>
            <a:ext cx="493776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about.html — a file in the same folder.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css/style.css — a file inside a subfolder.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../index.html — one folder up.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https://iiuc.ac.bd — a full address on another site.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Test it like this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553712"/>
            <a:ext cx="11091672" cy="493776"/>
          </a:xfrm>
          <a:prstGeom prst="roundRect">
            <a:avLst>
              <a:gd name="adj" fmla="val 16667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608576"/>
            <a:ext cx="384048" cy="38404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6085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4553712"/>
            <a:ext cx="101498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the link and watch the address bar change.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11091672" cy="493776"/>
          </a:xfrm>
          <a:prstGeom prst="roundRect">
            <a:avLst>
              <a:gd name="adj" fmla="val 16667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5175504"/>
            <a:ext cx="384048" cy="38404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517550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5120640"/>
            <a:ext cx="101498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Network tab and see the new document request.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687568"/>
            <a:ext cx="11091672" cy="493776"/>
          </a:xfrm>
          <a:prstGeom prst="roundRect">
            <a:avLst>
              <a:gd name="adj" fmla="val 16667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5742432"/>
            <a:ext cx="384048" cy="38404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57424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5687568"/>
            <a:ext cx="101498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the link on purpose and read the 404 in the console.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Add an Image the Correct 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image is a separate file, so it becomes a separate HTTP request with its own status code.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852160" cy="1463040"/>
          </a:xfrm>
          <a:prstGeom prst="roundRect">
            <a:avLst>
              <a:gd name="adj" fmla="val 3750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48256"/>
            <a:ext cx="5522976" cy="1207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&lt;img src="images/logo.png"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alt="IIUC campus logo"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width="240"&gt;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852160" cy="713232"/>
          </a:xfrm>
          <a:prstGeom prst="roundRect">
            <a:avLst>
              <a:gd name="adj" fmla="val 1153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66160"/>
            <a:ext cx="1005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src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566160"/>
            <a:ext cx="4434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path to the file. Case sensitive after hosting.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352544"/>
            <a:ext cx="5852160" cy="713232"/>
          </a:xfrm>
          <a:prstGeom prst="roundRect">
            <a:avLst>
              <a:gd name="adj" fmla="val 1153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52544"/>
            <a:ext cx="1005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alt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4352544"/>
            <a:ext cx="4434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short description. Shown if the image fails, and read by screen readers.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5138928"/>
            <a:ext cx="5852160" cy="713232"/>
          </a:xfrm>
          <a:prstGeom prst="roundRect">
            <a:avLst>
              <a:gd name="adj" fmla="val 1153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138928"/>
            <a:ext cx="1005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646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width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5138928"/>
            <a:ext cx="443484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size. Keeps the layout stable while loading.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0" y="1920240"/>
            <a:ext cx="4965192" cy="3794760"/>
          </a:xfrm>
          <a:prstGeom prst="roundRect">
            <a:avLst>
              <a:gd name="adj" fmla="val 2169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103120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When the image does not appear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2606040"/>
            <a:ext cx="448056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Network tab and find the image row.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404 means the path is wrong.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 folder name, the file name and the extension.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Remember that Logo.PNG and logo.png are different on a server.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use a backslash in the path.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Use a Local Server?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5F7273"/>
          </a:solidFill>
          <a:ln w="6350">
            <a:solidFill>
              <a:srgbClr val="5F72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Opening the file directly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file:///C:/Users/.../index.html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49377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page may look correct at first.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HTTP request and no status code.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Modules, APIs and build tools will fail later.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behaviour is different from the real web.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45352" y="155448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5352" y="1554480"/>
            <a:ext cx="5394960" cy="566928"/>
          </a:xfrm>
          <a:prstGeom prst="roundRect">
            <a:avLst>
              <a:gd name="adj" fmla="val 14516"/>
            </a:avLst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554480"/>
            <a:ext cx="4937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Using Live Server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73952" y="22860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B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http://127.0.0.1:5500/index.html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2697480"/>
            <a:ext cx="493776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HTTP requests with real status codes.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page reloads automatically when you save.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conditions as a hosted website.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DevTools shows exactly what the browser fetched.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12700">
            <a:solidFill>
              <a:srgbClr val="EAF1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127.0.0.1 means "this computer" and 5500 is the port. Nobody else on the internet can open this address.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Starting and Stopping Live 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2364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236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 the extension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371600" y="195681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Extensions panel → search "Live Server" → Install.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59232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9232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49631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project folder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71600" y="282549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→ Open Folder, then choose cse2340-week1.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46100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610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36499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Start the server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71600" y="369417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Right-click index.html → "Open with Live Server".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17880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32968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296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23367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Watch the address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371600" y="456285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becomes http://127.0.0.1:5500/index.html.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04748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19836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19836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102352"/>
            <a:ext cx="5943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Stop the server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371600" y="5431536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"Port: 5500" in the status bar at the bottom.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18120" y="1572768"/>
            <a:ext cx="3822192" cy="4251960"/>
          </a:xfrm>
          <a:prstGeom prst="roundRect">
            <a:avLst>
              <a:gd name="adj" fmla="val 2153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173736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If it does not start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8046720" y="2212848"/>
            <a:ext cx="3364992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opened a file, not a folder.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Another program is already using port 5500.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extension was installed but VS Code was not reloaded.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file is not saved yet.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STEP 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Inspect Your Own Page in DevTools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from C1 is now visible in your own project. This is where the two classes join.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75304" cy="1828800"/>
          </a:xfrm>
          <a:prstGeom prst="roundRect">
            <a:avLst>
              <a:gd name="adj" fmla="val 4500"/>
            </a:avLst>
          </a:prstGeom>
          <a:solidFill>
            <a:srgbClr val="F5F8F7"/>
          </a:solidFill>
          <a:ln w="12700">
            <a:solidFill>
              <a:srgbClr val="1464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20240"/>
            <a:ext cx="3575304" cy="502920"/>
          </a:xfrm>
          <a:prstGeom prst="roundRect">
            <a:avLst>
              <a:gd name="adj" fmla="val 16364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320954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Elements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311810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the live structure of your page and edit it temporarily.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06824" y="1920240"/>
            <a:ext cx="3575304" cy="1828800"/>
          </a:xfrm>
          <a:prstGeom prst="roundRect">
            <a:avLst>
              <a:gd name="adj" fmla="val 4500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1920240"/>
            <a:ext cx="3575304" cy="502920"/>
          </a:xfrm>
          <a:prstGeom prst="roundRect">
            <a:avLst>
              <a:gd name="adj" fmla="val 16364"/>
            </a:avLst>
          </a:prstGeom>
          <a:solidFill>
            <a:srgbClr val="2E8F92"/>
          </a:solidFill>
          <a:ln w="6350">
            <a:solidFill>
              <a:srgbClr val="2E8F9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1920240"/>
            <a:ext cx="320954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Console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35424" y="2560320"/>
            <a:ext cx="311810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errors and warnings. Most silent problems appear here.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1920240"/>
            <a:ext cx="3575304" cy="1828800"/>
          </a:xfrm>
          <a:prstGeom prst="roundRect">
            <a:avLst>
              <a:gd name="adj" fmla="val 4500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1920240"/>
            <a:ext cx="3575304" cy="502920"/>
          </a:xfrm>
          <a:prstGeom prst="roundRect">
            <a:avLst>
              <a:gd name="adj" fmla="val 16364"/>
            </a:avLst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920240"/>
            <a:ext cx="320954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Network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93608" y="2560320"/>
            <a:ext cx="3118104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every request your page made, with status, type and size.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Three things to find right now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498848"/>
            <a:ext cx="384048" cy="38404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4988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434840"/>
            <a:ext cx="10149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document request for index.html and its status code.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2005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084064"/>
            <a:ext cx="384048" cy="38404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08406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020056"/>
            <a:ext cx="10149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request for your image, and its size in bytes.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60527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5669280"/>
            <a:ext cx="384048" cy="38404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566928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5605272"/>
            <a:ext cx="10149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total number of requests your page made.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GUIDED LABORATORY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 These Steps Together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64208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6420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node --version and npm --version.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22576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414016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14016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322576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clean course project folder.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63824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6382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072384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index.html and type the reference pattern.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22192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913632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13632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822192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the project with Live Server.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572000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663440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66344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572000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the title and the visible content.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21808"/>
            <a:ext cx="704088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413248"/>
            <a:ext cx="475488" cy="475488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413248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532180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Inspect the document request in DevTools.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09560" y="1572768"/>
            <a:ext cx="3730752" cy="4407408"/>
          </a:xfrm>
          <a:prstGeom prst="roundRect">
            <a:avLst>
              <a:gd name="adj" fmla="val 2206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173736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Success criteria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138160" y="2212848"/>
            <a:ext cx="3273552" cy="35844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page opens from an http:// address, not file://.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document request returns 200 OK.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 the file reloads the browser automatically.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 explain every line you typed.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INDEPENDENT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Now Work on Your 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23644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2364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second page and link it from index.html.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592324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9232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an image with a meaningful alt description.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61004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6100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310128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the viewport meta tag and explain what changes.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17880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329684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2968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178808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short list of three things you learned in C1.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5047488"/>
            <a:ext cx="6949440" cy="777240"/>
          </a:xfrm>
          <a:prstGeom prst="roundRect">
            <a:avLst>
              <a:gd name="adj" fmla="val 10588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5198364"/>
            <a:ext cx="475488" cy="475488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198364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5047488"/>
            <a:ext cx="5943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short README describing how to run the page.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18120" y="1572768"/>
            <a:ext cx="3822192" cy="4251960"/>
          </a:xfrm>
          <a:prstGeom prst="roundRect">
            <a:avLst>
              <a:gd name="adj" fmla="val 2153"/>
            </a:avLst>
          </a:prstGeom>
          <a:solidFill>
            <a:srgbClr val="F5F8F7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173736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Rules for this part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046720" y="2212848"/>
            <a:ext cx="3364992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 alone first for ten minutes.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the error before asking for help.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one problem at a time.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and reload after every change.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finish early, help a neighbour.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DIAGNOSIS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 Task and Common Errors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 task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why a local server is useful even when the page already seems to work by opening the HTML file directly.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394960" cy="2057400"/>
          </a:xfrm>
          <a:prstGeom prst="roundRect">
            <a:avLst>
              <a:gd name="adj" fmla="val 4000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4048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Write your answer 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493776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sentence about status codes.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sentence about later tools such as APIs.</a:t>
            </a:r>
            <a:endParaRPr lang="en-US" sz="13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sentence about matching the real web.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45352" y="1554480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7EAE6"/>
          </a:solidFill>
          <a:ln w="12700">
            <a:solidFill>
              <a:srgbClr val="A45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627632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Opening the wrong folder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73952" y="193852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Server serves the folder you opened, not the file you edited.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5352" y="2450592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52374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wrong file extension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73952" y="2834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index.html.txt is a text file, not a web page.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45352" y="3346704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7EAE6"/>
          </a:solidFill>
          <a:ln w="12700">
            <a:solidFill>
              <a:srgbClr val="A455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419856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broken image path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73952" y="373075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spelling, folder name and letter case.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45352" y="4242816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5F8F7"/>
          </a:solidFill>
          <a:ln w="12700">
            <a:solidFill>
              <a:srgbClr val="C9D8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4315968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Forgetting to save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73952" y="4626864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browser reloads the saved file, not the editor buffer.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45352" y="5138928"/>
            <a:ext cx="5394960" cy="822960"/>
          </a:xfrm>
          <a:prstGeom prst="roundRect">
            <a:avLst>
              <a:gd name="adj" fmla="val 10000"/>
            </a:avLst>
          </a:prstGeom>
          <a:solidFill>
            <a:srgbClr val="F7EAE6"/>
          </a:solidFill>
          <a:ln w="12700">
            <a:solidFill>
              <a:srgbClr val="A455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5212080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reading the Console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473952" y="5522976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silent failures are already reported there.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PROFESSIONAL HABIT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Save Your Work with Git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110642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commit is a labelled point in the history of your project. Create one whenever something works.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5669280" cy="2377440"/>
          </a:xfrm>
          <a:prstGeom prst="roundRect">
            <a:avLst>
              <a:gd name="adj" fmla="val 2308"/>
            </a:avLst>
          </a:prstGeom>
          <a:solidFill>
            <a:srgbClr val="0E2C2D"/>
          </a:solidFill>
          <a:ln w="6350">
            <a:solidFill>
              <a:srgbClr val="0E2C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048256"/>
            <a:ext cx="5340096" cy="21214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init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status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add 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commit -m "Week 1: first HTML page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running on Live Server"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DE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 git log --oneline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920240"/>
            <a:ext cx="5148072" cy="2377440"/>
          </a:xfrm>
          <a:prstGeom prst="roundRect">
            <a:avLst>
              <a:gd name="adj" fmla="val 3462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208483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each command does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2542032"/>
            <a:ext cx="4663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init: start tracking this folder.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status: see what changed.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add: choose what goes into the next commit.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commit: save that point with a message.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log: read the history.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Good and weak commit messages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498348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5084064"/>
            <a:ext cx="868680" cy="347472"/>
          </a:xfrm>
          <a:prstGeom prst="roundRect">
            <a:avLst>
              <a:gd name="adj" fmla="val 18421"/>
            </a:avLst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084064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783080" y="498348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Add about page and link it from the home page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605272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705856"/>
            <a:ext cx="868680" cy="347472"/>
          </a:xfrm>
          <a:prstGeom prst="roundRect">
            <a:avLst>
              <a:gd name="adj" fmla="val 18421"/>
            </a:avLst>
          </a:prstGeom>
          <a:solidFill>
            <a:srgbClr val="A4553A"/>
          </a:solidFill>
          <a:ln w="6350">
            <a:solidFill>
              <a:srgbClr val="A455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705856"/>
            <a:ext cx="8686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783080" y="5605272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update / final / final2 / asdf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ASSIGNMENT 1B · PART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 1: Show It Before You Leave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Tasks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4767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47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184708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index.html running from an http:// address, not file://.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7919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79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57860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the 200 OK status for the document in the Network tab.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1071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410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331012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the &lt;h1&gt; text, save, and show the automatic reload.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4223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04164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the image path on purpose and show the 404 in the Network tab.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77316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873752"/>
            <a:ext cx="457200" cy="457200"/>
          </a:xfrm>
          <a:prstGeom prst="ellipse">
            <a:avLst/>
          </a:prstGeom>
          <a:solidFill>
            <a:srgbClr val="14646A"/>
          </a:solidFill>
          <a:ln w="6350">
            <a:solidFill>
              <a:srgbClr val="1464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8737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477316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 the path and show that the image loads again.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26680" y="1417320"/>
            <a:ext cx="3913632" cy="2011680"/>
          </a:xfrm>
          <a:prstGeom prst="roundRect">
            <a:avLst>
              <a:gd name="adj" fmla="val 4091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157276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show it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55280" y="196596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Demonstrate on your own laptop in class.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Marks are given on the spot.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Nothing is uploaded for this part.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Time: the last five minutes of C2.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26680" y="3566160"/>
            <a:ext cx="3913632" cy="1892808"/>
          </a:xfrm>
          <a:prstGeom prst="roundRect">
            <a:avLst>
              <a:gd name="adj" fmla="val 4348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7033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Marks: 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955280" y="4114800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 served over http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0" y="411480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55280" y="444398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the status code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789920" y="444398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55280" y="477316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reload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789920" y="477316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0" y="510235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Breaking and fixing a path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789920" y="510235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point of this part is diagnosis. Breaking something on purpose and fixing it is the skill being marked.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C2 · ASSIGNMENT 1B · PART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Part 2: Home Task for the Next Class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7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4646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Tasks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184708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4767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947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184708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Finish index.html and about.html, linked to each other in both directions.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57860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7919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6791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257860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one image with a correct path and a meaningful alt description.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31012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41071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410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331012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a short list of three things you learned in C1.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4164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F5F8F7"/>
          </a:solidFill>
          <a:ln w="6350">
            <a:solidFill>
              <a:srgbClr val="F5F8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4223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404164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README.md explaining how to run the project with Live Server.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773168"/>
            <a:ext cx="6949440" cy="658368"/>
          </a:xfrm>
          <a:prstGeom prst="roundRect">
            <a:avLst>
              <a:gd name="adj" fmla="val 12500"/>
            </a:avLst>
          </a:prstGeom>
          <a:solidFill>
            <a:srgbClr val="EAF1F0"/>
          </a:solidFill>
          <a:ln w="6350">
            <a:solidFill>
              <a:srgbClr val="EAF1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87375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8737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98448" y="4773168"/>
            <a:ext cx="60350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three Git commits with clear messages, and take one screenshot of the Network tab showing 200 OK.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26680" y="1417320"/>
            <a:ext cx="3913632" cy="2011680"/>
          </a:xfrm>
          <a:prstGeom prst="roundRect">
            <a:avLst>
              <a:gd name="adj" fmla="val 4091"/>
            </a:avLst>
          </a:prstGeom>
          <a:solidFill>
            <a:srgbClr val="F5F8F7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1572768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to submit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55280" y="196596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Zip your project folder with the screenshot inside.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name: CSE2340_W1_C2_yourID.zip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to the course portal.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Deadline: before the next class (C3).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26680" y="3566160"/>
            <a:ext cx="3913632" cy="1892808"/>
          </a:xfrm>
          <a:prstGeom prst="roundRect">
            <a:avLst>
              <a:gd name="adj" fmla="val 4348"/>
            </a:avLst>
          </a:prstGeom>
          <a:solidFill>
            <a:srgbClr val="FDF6EA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703320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B3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Marks: 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955280" y="4114800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working linked pages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789920" y="4114800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55280" y="4443984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with alt text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789920" y="444398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55280" y="4773168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README file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789920" y="477316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0" y="5102352"/>
            <a:ext cx="28346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8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history and screenshot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0789920" y="510235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6E7C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B4A1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must run from an http:// address. A folder that only works from file:// loses marks for the running requirement.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566160"/>
            <a:ext cx="4206240" cy="4206240"/>
          </a:xfrm>
          <a:prstGeom prst="ellipse">
            <a:avLst/>
          </a:prstGeom>
          <a:solidFill>
            <a:srgbClr val="0F4B4C"/>
          </a:solidFill>
          <a:ln w="12700">
            <a:solidFill>
              <a:srgbClr val="0F4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548640"/>
            <a:ext cx="1280160" cy="1280160"/>
          </a:xfrm>
          <a:prstGeom prst="ellipse">
            <a:avLst/>
          </a:prstGeom>
          <a:solidFill>
            <a:srgbClr val="D99A3E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686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 OF WEEK 1  ·  C1 AND C2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9326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Exit Check and What Comes Next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5760720" cy="658368"/>
          </a:xfrm>
          <a:prstGeom prst="roundRect">
            <a:avLst>
              <a:gd name="adj" fmla="val 12500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249424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4942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148840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do we use a local server?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898648"/>
            <a:ext cx="5760720" cy="658368"/>
          </a:xfrm>
          <a:prstGeom prst="roundRect">
            <a:avLst>
              <a:gd name="adj" fmla="val 12500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999232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999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898648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does npm become useful for later?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648456"/>
            <a:ext cx="5760720" cy="658368"/>
          </a:xfrm>
          <a:prstGeom prst="roundRect">
            <a:avLst>
              <a:gd name="adj" fmla="val 12500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3749040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3648456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should the project files live?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398264"/>
            <a:ext cx="5760720" cy="658368"/>
          </a:xfrm>
          <a:prstGeom prst="roundRect">
            <a:avLst>
              <a:gd name="adj" fmla="val 12500"/>
            </a:avLst>
          </a:prstGeom>
          <a:solidFill>
            <a:srgbClr val="123F41"/>
          </a:solidFill>
          <a:ln w="12700">
            <a:solidFill>
              <a:srgbClr val="2E8F9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4498848"/>
            <a:ext cx="457200" cy="457200"/>
          </a:xfrm>
          <a:prstGeom prst="ellipse">
            <a:avLst/>
          </a:prstGeom>
          <a:solidFill>
            <a:srgbClr val="D99A3E"/>
          </a:solidFill>
          <a:ln w="6350">
            <a:solidFill>
              <a:srgbClr val="D99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498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25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4398264"/>
            <a:ext cx="48463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makes a good commit message?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949440" y="21031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9A3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 can now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49440" y="2560320"/>
            <a:ext cx="457200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Describe the journey from a web address to a rendered page.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DNS, HTTP, headers, status codes and hosting.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a project folder on a local development server.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DCEDE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Create, link and inspect your own HTML pages.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10817352" cy="777240"/>
          </a:xfrm>
          <a:prstGeom prst="roundRect">
            <a:avLst>
              <a:gd name="adj" fmla="val 10588"/>
            </a:avLst>
          </a:prstGeom>
          <a:solidFill>
            <a:srgbClr val="123F41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521208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class (C3): semantic HTML structure. Bring your project folder and your challenge answers.   ·   Md Sadman Hafiz, Lecturer, Dept. of CSE, IIUC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" y="6327648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3A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CSE-2340 Software Development 1  ·  Week 1  ·  Md Sadman Hafiz, Lecturer, Dept. of CSE, IIUC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64240" y="632764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9A3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28090</Words>
  <Application>WPS Presentation</Application>
  <PresentationFormat>On-screen Show (16:9)</PresentationFormat>
  <Paragraphs>1671</Paragraphs>
  <Slides>44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Nitro Gaming</cp:lastModifiedBy>
  <cp:revision>2</cp:revision>
  <dcterms:created xsi:type="dcterms:W3CDTF">2026-08-24T02:49:00Z</dcterms:created>
  <dcterms:modified xsi:type="dcterms:W3CDTF">2026-08-25T06:27:41Z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FA3870CFFF9D4CA180BFF84E342B82B3_12</vt:lpwstr>
  </property>
  <property fmtid="{D5CDD505-2E9C-101B-9397-08002B2CF9AE}" pid="3" name="KSOProductBuildVer">
    <vt:lpwstr>2057-12.2.0.23206</vt:lpwstr>
  </property>
</Properties>
</file>