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3 of Week 1. 50 minutes. Greet, take attendance quickly, ask students to open VS Code and Live Server before we start. Timing plan: 0-5 recall, 5-15 concept, 15-30 live build, 30-43 student build, 43-48 debug, 48-50 exit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Ask the four recall questions to random students, do not wait for perfect answers. Then read the outcome list aloud - students should know exactly what they will have built by 12:50.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5-8 min. Key line: the browser shows the same thing, the meaning is different. Ask: who reads your HTML besides the browser? Answers: screen readers, search engines, other developers, future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8-11 min. Type this live in an empty file. In VS Code type ! then Tab (Emmet) and this appears instantly - show that trick, students love it. Stress: head is for the browser, body is for the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11-13 min. Analogy: headings are like chapter numbers in a book. Show what happens in the browser Accessibility tab: the heading outline. Bold is for emphasis, headings are for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13-15 min. Point out that strong and em carry meaning, b and i only change appearance. br and hr are empty elements - no closing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15-16 min. Demonstrate all three live. Show a broken link (wrong file name) and let students see the 404 - this is their most common error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16-18 min. Live: delete one letter from the src and show the broken image with the alt text visible. That single demonstration teaches alt text better than any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18-19 min. ul = unordered (skills, features). ol = ordered (steps, ranking). A navigation menu is normally a ul of links - mention this now because we use it in the live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19-22 min. Draw the same boxes on the whiteboard while you talk. Ask students to name the regions of the IIUC website on the projector. Only one main per page - repeat this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22-25 min. Explain that the form does not send anywhere yet - we need a backend, which is a later course. Today the form only collects input. Demonstrate clicking a label to focus its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min. Transition slide. Everyone opens VS Code with an empty folder named my-profile and an empty index.html. Nobody types until I finish each step - then they reproduce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25-26 min. Show the finished page on the projector first so students know the target. Say clearly: no CSS today - it will look plain, and that is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1. Everyone must reach a running blank page before we continue. Walk the room. Do not move on while any student still has a red squiggle.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2. Type it slowly and say each tag name. Students reproduce. Explain that the nav links look like plain blue text now because there is no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3. Longest step, roughly 5 minutes. Point out that each section has an id matching a nav link and starts with an h2. Save and click the nav links - now they jump.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4. Note the form sits inside a section inside main, and the footer is OUTSIDE main. Show the indentation. Click a label to prove the focus jumps to the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43-46 min. Run these six checks on a student's screen with the projector. Tell them the same checklist is used in Week 2 Class 2 and in Mini Project 1 marking.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46-48 min. Ask three students to describe an error they hit, then fix it live on the projector. Teach the habit of reading the file path character by character.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 min. Read both parts aloud. Part 1 is verified before students leave the lab. Part 2 feeds directly into Class 4, where the same folder becomes their first Git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48-50 min. Take two answers, correct them in one sentence each, and remind students to bring their profile folder to Class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A4A85"/>
          </a:solidFill>
          <a:ln w="12700">
            <a:solidFill>
              <a:srgbClr val="0A4A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ISLAMIC UNIVERSITY CHITTAGONG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CSE-2340: Software Development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· Class 3 · Headings, text, links, images, forms, document 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005840" cy="32004"/>
          </a:xfrm>
          <a:prstGeom prst="rect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Sadman Hafiz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Lecturer, Dept. of CSE, IIUC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 2026  |  50-minute laboratory class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0-5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&amp; Today's Outcome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from Class 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497433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browser do with an HTML file?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extension did we use for our first page?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open a page with Live Server?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page title text appear?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6184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45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 you can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039112"/>
            <a:ext cx="479145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semantic HTML matters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valid HTML5 document structure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headings, text, links, images and lists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header, nav, main, section, footer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simple form with labels and inputs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complete personal profile page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Semantic HTML?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means "with meaning". A semantic tag tells the browser what the content IS, not how it looks.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745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SEMANTIC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03520" cy="1444752"/>
          </a:xfrm>
          <a:prstGeom prst="roundRect">
            <a:avLst>
              <a:gd name="adj" fmla="val 379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585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"top"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"big-text"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Profile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"middle"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I am a student.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18745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1F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5303520" cy="1444752"/>
          </a:xfrm>
          <a:prstGeom prst="roundRect">
            <a:avLst>
              <a:gd name="adj" fmla="val 379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22585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Profile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I am a student.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436168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look the same in the browser. Only one is understandable.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82312"/>
            <a:ext cx="1055217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readers can jump straight to the main content for a blind user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understands which text is the real heading of your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teammate reads the code in five seconds instead of five minutes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Analogy: a building with rooms labelled Kitchen and Bedroom, not Room1 and Room2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an HTML Document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035040" cy="2306320"/>
          </a:xfrm>
          <a:prstGeom prst="roundRect">
            <a:avLst>
              <a:gd name="adj" fmla="val 237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815584" cy="208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"en"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charset=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Profile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59168" y="14630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59168" y="17556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the browser: this is HTML5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2267712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59168" y="2359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651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page. lang helps screen readers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0" y="3163824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59168" y="325526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059168" y="35478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ABOUT the page. Not visible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4059936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9168" y="41513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44439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shown on the browser tab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4956048"/>
            <a:ext cx="4754880" cy="786384"/>
          </a:xfrm>
          <a:prstGeom prst="roundRect">
            <a:avLst>
              <a:gd name="adj" fmla="val 9302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59168" y="50474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53400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the user actually sees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Headings: &lt;h1&gt; to &lt;h6&gt;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h1 per page. Never skip a level. Headings form the table of contents of your page.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669280" cy="1330960"/>
          </a:xfrm>
          <a:prstGeom prst="roundRect">
            <a:avLst>
              <a:gd name="adj" fmla="val 412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892808"/>
            <a:ext cx="5449824" cy="111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 Sadman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Me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&lt;/h3&gt;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035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783080"/>
            <a:ext cx="5303520" cy="292608"/>
          </a:xfrm>
          <a:prstGeom prst="rect">
            <a:avLst/>
          </a:prstGeom>
          <a:solidFill>
            <a:srgbClr val="E8EEF4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7376" y="1874520"/>
            <a:ext cx="109728" cy="109728"/>
          </a:xfrm>
          <a:prstGeom prst="ellipse">
            <a:avLst/>
          </a:prstGeom>
          <a:solidFill>
            <a:srgbClr val="E06C5E"/>
          </a:solidFill>
          <a:ln w="12700">
            <a:solidFill>
              <a:srgbClr val="E06C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0256" y="1874520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1874520"/>
            <a:ext cx="109728" cy="109728"/>
          </a:xfrm>
          <a:prstGeom prst="ellipse">
            <a:avLst/>
          </a:prstGeom>
          <a:solidFill>
            <a:srgbClr val="5FB878"/>
          </a:solidFill>
          <a:ln w="12700">
            <a:solidFill>
              <a:srgbClr val="5FB8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18105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Sadman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606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9260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200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4930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04672" y="4407408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828032"/>
            <a:ext cx="51572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h1 five times because it looks bigger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Jumping from h1 straight to h4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heading only to make text bold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420624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65392" y="440740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habit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4828032"/>
            <a:ext cx="47914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= page title, used once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= major sections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= subsections inside h2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Elements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69280" cy="2103120"/>
          </a:xfrm>
          <a:prstGeom prst="roundRect">
            <a:avLst>
              <a:gd name="adj" fmla="val 260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4498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am a CSE student at IIUC.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am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&lt;/strong&gt;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development and I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enjoy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&lt;/em&gt;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it.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one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two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035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371600"/>
            <a:ext cx="5303520" cy="292608"/>
          </a:xfrm>
          <a:prstGeom prst="rect">
            <a:avLst/>
          </a:prstGeom>
          <a:solidFill>
            <a:srgbClr val="E8EEF4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7376" y="1463040"/>
            <a:ext cx="109728" cy="109728"/>
          </a:xfrm>
          <a:prstGeom prst="ellipse">
            <a:avLst/>
          </a:prstGeom>
          <a:solidFill>
            <a:srgbClr val="E06C5E"/>
          </a:solidFill>
          <a:ln w="12700">
            <a:solidFill>
              <a:srgbClr val="E06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0256" y="1463040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1463040"/>
            <a:ext cx="109728" cy="109728"/>
          </a:xfrm>
          <a:prstGeom prst="ellipse">
            <a:avLst/>
          </a:prstGeom>
          <a:solidFill>
            <a:srgbClr val="5FB878"/>
          </a:solidFill>
          <a:ln w="12700">
            <a:solidFill>
              <a:srgbClr val="5FB8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13990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output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a CSE student at IIUC.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</a:t>
            </a:r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 development and I </a:t>
            </a:r>
            <a:pPr indent="0" marL="0">
              <a:buNone/>
            </a:pPr>
            <a:r>
              <a:rPr lang="en-US" sz="1300" i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enjoy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43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two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3429000"/>
            <a:ext cx="4937760" cy="18288"/>
          </a:xfrm>
          <a:prstGeom prst="rect">
            <a:avLst/>
          </a:prstGeom>
          <a:solidFill>
            <a:srgbClr val="D6DEE6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20624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297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paragraph of text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420624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0560" y="4297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- shown bold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420624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0" y="4297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Emphasis - shown italic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1663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break, no closing tag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5074920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0560" y="51663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48056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Thematic break line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Links: the &lt;a&gt; Element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1964944"/>
          </a:xfrm>
          <a:prstGeom prst="roundRect">
            <a:avLst>
              <a:gd name="adj" fmla="val 27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10844784" cy="174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External link: goes to another website --&gt;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"https://www.iiuc.ac.bd"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IIUC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Internal link: goes to another file in my project --&gt;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"about.html"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Me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Anchor link: jumps to a section on the same page --&gt;</a:t>
            </a:r>
            <a:endParaRPr lang="en-US" sz="1300" dirty="0"/>
          </a:p>
          <a:p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"#contact"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Me</a:t>
            </a:r>
            <a:pPr indent="0" marL="0">
              <a:lnSpc>
                <a:spcPts val="1664"/>
              </a:lnSpc>
              <a:buNone/>
            </a:pPr>
            <a:r>
              <a:rPr lang="en-US" sz="13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40416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40690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href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4462272"/>
            <a:ext cx="3008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address the link opens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href = not a real link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98848" y="40416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9884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10912" y="40690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text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4462272"/>
            <a:ext cx="30083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what the user will get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write "click here"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384048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47888" y="40416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4788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59952" y="40690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target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4462272"/>
            <a:ext cx="30540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#contact needs id="contact"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section you jump to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Images: the &lt;img&gt; Element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400800" cy="1899920"/>
          </a:xfrm>
          <a:prstGeom prst="roundRect">
            <a:avLst>
              <a:gd name="adj" fmla="val 28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6181344" cy="168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"images/profile.jpg"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alt="Photo of Md Sadman at the IIUC campus"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width="200"&gt;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src  = where the file is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  = text if the image fails or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a screen reader user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img has NO closing tag --&gt;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32320" y="137160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3348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3348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845552" y="1600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alt text matters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88352" y="1993392"/>
            <a:ext cx="39684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blind user hears the alt text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if the file path is wrong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 read 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Decorative image? Use alt=""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RULES YOU WILL NEED TODAY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434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profile.jpg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937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folder as index.html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42519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47872" y="4434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images/profile.jpg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547872" y="4937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images folder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2519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82512" y="4434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../profile.jpg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4937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folder above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52560" y="42519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17152" y="4434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https://.../pic.jpg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217152" y="4937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file on the internet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Lists: &lt;ul&gt;, &lt;ol&gt;, &lt;li&gt;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69280" cy="2915920"/>
          </a:xfrm>
          <a:prstGeom prst="roundRect">
            <a:avLst>
              <a:gd name="adj" fmla="val 188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449824" cy="269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Order does not matter --&gt;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Order matters --&gt;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VS Code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index.html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Live Server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371600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371600"/>
            <a:ext cx="5303520" cy="292608"/>
          </a:xfrm>
          <a:prstGeom prst="rect">
            <a:avLst/>
          </a:prstGeom>
          <a:solidFill>
            <a:srgbClr val="E8EEF4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37376" y="1463040"/>
            <a:ext cx="109728" cy="109728"/>
          </a:xfrm>
          <a:prstGeom prst="ellipse">
            <a:avLst/>
          </a:prstGeom>
          <a:solidFill>
            <a:srgbClr val="E06C5E"/>
          </a:solidFill>
          <a:ln w="12700">
            <a:solidFill>
              <a:srgbClr val="E06C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0256" y="1463040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03136" y="1463040"/>
            <a:ext cx="109728" cy="109728"/>
          </a:xfrm>
          <a:prstGeom prst="ellipse">
            <a:avLst/>
          </a:prstGeom>
          <a:solidFill>
            <a:srgbClr val="5FB878"/>
          </a:solidFill>
          <a:ln w="12700">
            <a:solidFill>
              <a:srgbClr val="5FB8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13990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output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1783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9718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VS Code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index.html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Live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518464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only &lt;li&gt; can be a direct child of &lt;ul&gt; or &lt;ol&gt;. Put paragraphs and links INSIDE the &lt;li&gt;.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Structure Elements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tags replace endless &lt;div&gt; tags. Each one names a region of the page.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852160" cy="502920"/>
          </a:xfrm>
          <a:prstGeom prst="roundRect">
            <a:avLst>
              <a:gd name="adj" fmla="val 9091"/>
            </a:avLst>
          </a:prstGeom>
          <a:solidFill>
            <a:srgbClr val="003366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916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5852160" cy="411480"/>
          </a:xfrm>
          <a:prstGeom prst="roundRect">
            <a:avLst>
              <a:gd name="adj" fmla="val 11111"/>
            </a:avLst>
          </a:prstGeom>
          <a:solidFill>
            <a:srgbClr val="0A4A85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677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852160" cy="2240280"/>
          </a:xfrm>
          <a:prstGeom prst="roundRect">
            <a:avLst>
              <a:gd name="adj" fmla="val 2041"/>
            </a:avLst>
          </a:prstGeom>
          <a:solidFill>
            <a:srgbClr val="F2F5F8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798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58521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089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127248"/>
            <a:ext cx="393192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127248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 / &lt;article&gt;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3127248"/>
            <a:ext cx="1554480" cy="1737360"/>
          </a:xfrm>
          <a:prstGeom prst="roundRect">
            <a:avLst>
              <a:gd name="adj" fmla="val 2941"/>
            </a:avLst>
          </a:prstGeom>
          <a:solidFill>
            <a:srgbClr val="FDF3E1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3127248"/>
            <a:ext cx="1554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393192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02336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5852160" cy="457200"/>
          </a:xfrm>
          <a:prstGeom prst="roundRect">
            <a:avLst>
              <a:gd name="adj" fmla="val 10000"/>
            </a:avLst>
          </a:prstGeom>
          <a:solidFill>
            <a:srgbClr val="003366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074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1645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of the page: site title, logo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2212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of navigation links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27797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2779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content. Only ONE per page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334670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366760" y="33467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themed block with its own heading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9136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39136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that makes sense on its own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4480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4480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but not essential content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720840" y="5047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0474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Bottom: copyright, contact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BLOCKS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Forms: Collecting User Input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400800" cy="2615184"/>
          </a:xfrm>
          <a:prstGeom prst="roundRect">
            <a:avLst>
              <a:gd name="adj" fmla="val 209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618134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Name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Email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"msg"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 id=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"msg"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"msg"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&lt;/textarea&gt;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type=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0" y="1371600"/>
            <a:ext cx="4480560" cy="2148840"/>
          </a:xfrm>
          <a:prstGeom prst="roundRect">
            <a:avLst>
              <a:gd name="adj" fmla="val 3404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3348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3348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845552" y="16002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88352" y="1993392"/>
            <a:ext cx="396849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input needs a &lt;label&gt;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for="x" must match input id="x"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Clicking the label focuses the input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32320" y="3703320"/>
            <a:ext cx="4480560" cy="2240280"/>
          </a:xfrm>
          <a:prstGeom prst="roundRect">
            <a:avLst>
              <a:gd name="adj" fmla="val 3265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88352" y="3904488"/>
            <a:ext cx="396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input types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88352" y="4325112"/>
            <a:ext cx="39684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- normal typing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- checks for @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- hides characters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number, date, checkbox, radio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2743200" cy="274320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Build: My Personal Profile Page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it together in four steps. Open your empty index.html now.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Building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6035040" cy="4617720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25880"/>
            <a:ext cx="6035040" cy="292608"/>
          </a:xfrm>
          <a:prstGeom prst="rect">
            <a:avLst/>
          </a:prstGeom>
          <a:solidFill>
            <a:srgbClr val="E8EEF4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417320"/>
            <a:ext cx="109728" cy="109728"/>
          </a:xfrm>
          <a:prstGeom prst="ellipse">
            <a:avLst/>
          </a:prstGeom>
          <a:solidFill>
            <a:srgbClr val="E06C5E"/>
          </a:solidFill>
          <a:ln w="12700">
            <a:solidFill>
              <a:srgbClr val="E06C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417320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" y="1417320"/>
            <a:ext cx="109728" cy="109728"/>
          </a:xfrm>
          <a:prstGeom prst="ellipse">
            <a:avLst/>
          </a:prstGeom>
          <a:solidFill>
            <a:srgbClr val="5FB878"/>
          </a:solidFill>
          <a:ln w="12700">
            <a:solidFill>
              <a:srgbClr val="5FB8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135331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 - Live Server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1783080"/>
            <a:ext cx="5669280" cy="5943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Sadman Hafiz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1031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About   Skills   Contact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" y="25603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25603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606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2907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a third semester CSE student at IIUC.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learning front-end development.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9319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basics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Me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66160" y="4114800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66160" y="4407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66160" y="4572000"/>
            <a:ext cx="265176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502920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66160" y="5029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440680"/>
            <a:ext cx="5669280" cy="45720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Md Sadman Hafiz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1325880"/>
            <a:ext cx="4754880" cy="2194560"/>
          </a:xfrm>
          <a:prstGeom prst="roundRect">
            <a:avLst>
              <a:gd name="adj" fmla="val 3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114032" y="1527048"/>
            <a:ext cx="4242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we will write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114032" y="1947672"/>
            <a:ext cx="42428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+ nav - name and menu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- profile, skills, education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- name, email, message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 - copyright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0" y="3703320"/>
            <a:ext cx="4754880" cy="2240280"/>
          </a:xfrm>
          <a:prstGeom prst="roundRect">
            <a:avLst>
              <a:gd name="adj" fmla="val 3265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59168" y="39044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59168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571232" y="39319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start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7114032" y="4325112"/>
            <a:ext cx="42428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Folder: my-profile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 index.html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Folder: images (put any photo)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with Live Server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 · 15-30 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The Skeleton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766560" cy="3119120"/>
          </a:xfrm>
          <a:prstGeom prst="roundRect">
            <a:avLst>
              <a:gd name="adj" fmla="val 175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6547104" cy="289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"en"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charset=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"viewport"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content="width=device-width, initial-scale=1.0"&gt;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 Sadman | Profile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&lt;/title&gt;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everything goes here --&gt;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498080" y="137160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99248" y="1572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9924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11312" y="1600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way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54112" y="1993392"/>
            <a:ext cx="36027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! then press Tab in VS Code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writes the skeleton for you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only the &lt;title&gt;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0" y="393192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99248" y="413308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9924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11312" y="41605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now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754112" y="4553712"/>
            <a:ext cx="360273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with Ctrl + 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click → Open with Live Server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tab shows the title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Header and Navigation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949440" cy="2712720"/>
          </a:xfrm>
          <a:prstGeom prst="roundRect">
            <a:avLst>
              <a:gd name="adj" fmla="val 202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6729984" cy="2493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 Sadman Hafiz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 semester CSE student, IIUC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"#about"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"#skills"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"#contact"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&lt;/header&gt;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137160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936992" y="1572768"/>
            <a:ext cx="3419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out loud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936992" y="1993392"/>
            <a:ext cx="34198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holds the page identity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holds a ul of links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link is one li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680960" y="393192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82128" y="41330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82128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4160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# links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36992" y="4553712"/>
            <a:ext cx="34198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#about jumps to id="about"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add those ids in Step 3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then the link does nothing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Main Content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64240" cy="4744720"/>
          </a:xfrm>
          <a:prstGeom prst="roundRect">
            <a:avLst>
              <a:gd name="adj" fmla="val 115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08176"/>
            <a:ext cx="10844784" cy="452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"about"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 Me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"images/profile.jpg"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alt=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"Photo of Md Sadman"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width=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"180"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am a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third semester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&lt;/strong&gt;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CSE student at IIUC. I am learning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front-end development and I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enjoy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&lt;/em&gt;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building web pages.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"skills"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solving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"education"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Education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BSc in CSE, IIUC - running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Secondary Certificate - 2024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100" dirty="0"/>
          </a:p>
          <a:p>
            <a:pPr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Form and Footer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4175760"/>
          </a:xfrm>
          <a:prstGeom prst="roundRect">
            <a:avLst>
              <a:gd name="adj" fmla="val 131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35608"/>
            <a:ext cx="10844784" cy="395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 id=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"contact"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Me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"text"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placeholder=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 full name"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placeholder=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"you@example.com"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&lt;/label&gt;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 id=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rows=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&lt;/textarea&gt;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type=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"submit"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Message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&lt;/section&gt;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&lt;/main&gt;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&amp;copy; 2026 Md Sadman Hafiz. Built for CSE-2340.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&lt;/footer&gt;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43-48 MINUTES · 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Checklist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header, nav, main, footer are present. Exactly one main.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4808" y="161848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16459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text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2039112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img has a useful alt describing the picture.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1729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2004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3593592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input has a label and the for matches the id.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29718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64808" y="317296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64808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320040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order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3593592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h1, then h2, then h3. No skipped level.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45262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72744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47548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text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04672" y="5148072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text describes the destination, not "click here".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63640" y="452628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64808" y="472744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64808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976872" y="47548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519672" y="5148072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lang="en" is set so screen readers pronounce correctly.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CLINIC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and Fixes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545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does not appear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545336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path or wrong file name. Check images/profile.jpg letter by letter. File names are case sensitive.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706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link does nothing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706624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 on the section is missing or spelled differently from the href.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39896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867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looks like one long line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867912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tag was never closed. Look for a missing &lt;/div&gt; or &lt;/section&gt;.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11064240" cy="1024128"/>
          </a:xfrm>
          <a:prstGeom prst="roundRect">
            <a:avLst>
              <a:gd name="adj" fmla="val 714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5029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 in the browser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502920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file was not saved, or Live Server is showing a different file.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method: read the error out loud, check the smallest thing first (spelling), then the next smallest (path).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IN CLASS · PART 2 AT HOME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- Class 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3246120"/>
          </a:xfrm>
          <a:prstGeom prst="roundRect">
            <a:avLst>
              <a:gd name="adj" fmla="val 225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002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1 - In-class demonstration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993392"/>
            <a:ext cx="4974336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last 5 minutes of this class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add one new &lt;section id="hobbies"&gt; with an h2 and a &lt;ul&gt; of three hobbies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matching link in the nav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working jump link on your screen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Submission: show to the instructor before leaving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2 (checked on the spot)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2 - Home task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1993392"/>
            <a:ext cx="479145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full profile page from today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&lt;aside&gt; with one favourite quote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second page about.html and link it from the nav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name: index.html and about.html in one folder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before the next class (Week 2, Class 1)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Submission: bring the folder on your laptop; we push it to GitHub next class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536752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folder safe. In Class 4 it becomes your first Git repository and your first GitHub push.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48-50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Rubric &amp; Exit Check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- 5 MARKS TOTAL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HTML5 structure and correct nesting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916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688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regions used (header, nav, main, footer)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6888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461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Headings, lists, image with alt, working links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24612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with labels correctly linked to inputs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0233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06640" y="13716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62672" y="15727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1 - concept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62672" y="1993392"/>
            <a:ext cx="369417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&lt;header&gt; better than &lt;div class="header"&gt;?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06640" y="301752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662672" y="321868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2 - practical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3639312"/>
            <a:ext cx="36941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one line of HTML that shows an image named logo.png stored in the images folder, with correct alt text.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i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class: Git basics - we turn today's folder into a repository and push it to GitHub.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International Islamic University Chittagong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CSE-2340 W1C3 Semantic HTML</dc:title>
  <dc:subject>Semantic HTML</dc:subject>
  <dc:creator>Md Sadman Hafiz</dc:creator>
  <cp:lastModifiedBy>Md Sadman Hafiz</cp:lastModifiedBy>
  <cp:revision>1</cp:revision>
  <dcterms:created xsi:type="dcterms:W3CDTF">2026-08-29T02:48:07Z</dcterms:created>
  <dcterms:modified xsi:type="dcterms:W3CDTF">2026-08-29T02:48:07Z</dcterms:modified>
</cp:coreProperties>
</file>